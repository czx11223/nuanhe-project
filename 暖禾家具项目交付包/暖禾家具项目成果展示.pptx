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2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11" Type="http://schemas.openxmlformats.org/officeDocument/2006/relationships/tableStyles" Target="tableStyle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notesMaster" Target="notesMasters/notes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Relationship Id="rId4" Type="http://schemas.openxmlformats.org/officeDocument/2006/relationships/image" Target="media/image4.svg" /><Relationship Id="rId2" Type="http://schemas.openxmlformats.org/officeDocument/2006/relationships/image" Target="media/image2.svg" /><Relationship Id="rId5" Type="http://schemas.openxmlformats.org/officeDocument/2006/relationships/image" Target="media/image5.svg" /><Relationship Id="rId3" Type="http://schemas.openxmlformats.org/officeDocument/2006/relationships/image" Target="media/image3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6.xml.rels><?xml version="1.0" encoding="UTF-8" standalone="yes"?><Relationships xmlns="http://schemas.openxmlformats.org/package/2006/relationships"><Relationship Id="rId6" Type="http://schemas.openxmlformats.org/officeDocument/2006/relationships/image" Target="media/image12.svg" /><Relationship Id="rId2" Type="http://schemas.openxmlformats.org/officeDocument/2006/relationships/image" Target="media/image8.png" /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10.svg" /><Relationship Id="rId1" Type="http://schemas.openxmlformats.org/officeDocument/2006/relationships/image" Target="media/image7.png" /><Relationship Id="rId5" Type="http://schemas.openxmlformats.org/officeDocument/2006/relationships/image" Target="media/image11.svg" /><Relationship Id="rId3" Type="http://schemas.openxmlformats.org/officeDocument/2006/relationships/image" Target="media/image9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'1280px', height: '720px', background: 'linear-gradient(135deg, #2A211A 0%, #4A3A2C 55%, #B07A4F 100%)', padding: 0 }}&gt;&#13;&#10;  &lt;Box style={{ position: 'absolute', top: 0, left: 0, width: 12, height: '720px', background: '#C76B3A' }} /&gt;&#13;&#10;  &lt;Box style={{ flexDirection: 'column', justifyContent: 'center', height: '100%', paddingLeft: 110, paddingRight: 120, gap: 24 }}&gt;&#13;&#10;    &lt;Text style={{ fontSize: 18, color: '#E7D9C9', letterSpacing: 6, fontWeight: 'bold' }}&gt;PROJECT SHOWCASE · 2026&lt;/Text&gt;&#13;&#10;    &lt;Text style={{ fontSize: 88, fontWeight: 'bold', color: '#FFFFFF', lineHeight: 1.05 }}&gt;暖禾家具&lt;/Text&gt;&#13;&#10;    &lt;Box style={{ width: 120, height: 6, background: '#C76B3A', borderRadius: 3 }} /&gt;&#13;&#10;    &lt;Text style={{ fontSize: 30, color: '#F3E9DC', fontWeight: '600', lineHeight: 1.4 }}&gt;企业官网 · 全栈项目成果展示&lt;/Text&gt;&#13;&#10;    &lt;Text style={{ fontSize: 20, color: '#CDBBA8', lineHeight: 1.6, marginTop: 6 }}&gt;从需求到交付 —— 前台展示 + 后台管理 + 后端服务 三位一体&lt;/Text&gt;&#13;&#10;  &lt;/Box&gt;&#13;&#10;  &lt;Box style={{ position: 'absolute', bottom: 36, left: 110, right: 120, flexDirection: 'row', justifyContent: 'space-between', alignItems: 'center' }}&gt;&#13;&#10;    &lt;Text style={{ fontSize: 16, color: '#C9B6A2' }}&gt;汇报人：暖禾 项目组&lt;/Text&gt;&#13;&#10;    &lt;Text style={{ fontSize: 16, color: '#C9B6A2' }}&gt;技术栈：React · Tailwind · AntD5 · FastAPI · SQLite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11A"/>
              </a:gs>
              <a:gs pos="55000">
                <a:srgbClr val="4A3A2C"/>
              </a:gs>
              <a:gs pos="100000">
                <a:srgbClr val="B07A4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1047750" y="1857375"/>
            <a:ext cx="10001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450">
                <a:solidFill>
                  <a:srgbClr val="E7D9C9"/>
                </a:solidFill>
                <a:latin typeface="Microsoft YaHei"/>
                <a:ea typeface="Microsoft YaHei"/>
              </a:rPr>
              <a:t>PROJECT SHOWCASE · 2026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1047750" y="2295525"/>
            <a:ext cx="10001250" cy="10572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zh-CN" sz="6600" b="1">
                <a:solidFill>
                  <a:srgbClr val="FFFFFF"/>
                </a:solidFill>
                <a:latin typeface="Microsoft YaHei"/>
                <a:ea typeface="Microsoft YaHei"/>
              </a:rPr>
              <a:t>暖禾家具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1047750" y="358140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C76B3A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047750" y="3867150"/>
            <a:ext cx="1000125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3E9DC"/>
                </a:solidFill>
                <a:latin typeface="Microsoft YaHei"/>
                <a:ea typeface="Microsoft YaHei"/>
              </a:rPr>
              <a:t>企业官网</a:t>
            </a:r>
            <a:r>
              <a:rPr lang="en-US" sz="2250" b="1">
                <a:solidFill>
                  <a:srgbClr val="F3E9D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250" b="1">
                <a:solidFill>
                  <a:srgbClr val="F3E9DC"/>
                </a:solidFill>
                <a:latin typeface="Microsoft YaHei"/>
                <a:ea typeface="Microsoft YaHei"/>
              </a:rPr>
              <a:t>全栈项目成果展示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047750" y="4638675"/>
            <a:ext cx="1000125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CDBBA8"/>
                </a:solidFill>
                <a:latin typeface="Microsoft YaHei"/>
                <a:ea typeface="Microsoft YaHei"/>
              </a:rPr>
              <a:t>从需求到交付</a:t>
            </a:r>
            <a:r>
              <a:rPr lang="en-US" sz="1500">
                <a:solidFill>
                  <a:srgbClr val="CDBBA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CDBBA8"/>
                </a:solidFill>
                <a:latin typeface="Microsoft YaHei"/>
                <a:ea typeface="Microsoft YaHei"/>
              </a:rPr>
              <a:t>前台展示</a:t>
            </a:r>
            <a:r>
              <a:rPr lang="en-US" sz="1500">
                <a:solidFill>
                  <a:srgbClr val="CDBBA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500">
                <a:solidFill>
                  <a:srgbClr val="CDBBA8"/>
                </a:solidFill>
                <a:latin typeface="Microsoft YaHei"/>
                <a:ea typeface="Microsoft YaHei"/>
              </a:rPr>
              <a:t>后台管理</a:t>
            </a:r>
            <a:r>
              <a:rPr lang="en-US" sz="1500">
                <a:solidFill>
                  <a:srgbClr val="CDBBA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500">
                <a:solidFill>
                  <a:srgbClr val="CDBBA8"/>
                </a:solidFill>
                <a:latin typeface="Microsoft YaHei"/>
                <a:ea typeface="Microsoft YaHei"/>
              </a:rPr>
              <a:t>后端服务</a:t>
            </a:r>
            <a:r>
              <a:rPr lang="en-US" sz="1500">
                <a:solidFill>
                  <a:srgbClr val="CDBB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CDBBA8"/>
                </a:solidFill>
                <a:latin typeface="Microsoft YaHei"/>
                <a:ea typeface="Microsoft YaHei"/>
              </a:rPr>
              <a:t>三位一体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0" y="0"/>
            <a:ext cx="114300" cy="6858000"/>
          </a:xfrm>
          <a:prstGeom prst="rect">
            <a:avLst/>
          </a:prstGeom>
          <a:solidFill>
            <a:srgbClr val="C76B3A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047750" y="6324600"/>
            <a:ext cx="1419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B6A2"/>
                </a:solidFill>
                <a:latin typeface="Microsoft YaHei"/>
                <a:ea typeface="Microsoft YaHei"/>
              </a:rPr>
              <a:t>汇报人：暖禾</a:t>
            </a:r>
            <a:r>
              <a:rPr lang="en-US" sz="1200">
                <a:solidFill>
                  <a:srgbClr val="C9B6A2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C9B6A2"/>
                </a:solidFill>
                <a:latin typeface="Microsoft YaHei"/>
                <a:ea typeface="Microsoft YaHei"/>
              </a:rPr>
              <a:t>项目组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477125" y="6324600"/>
            <a:ext cx="3571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B6A2"/>
                </a:solidFill>
                <a:latin typeface="Microsoft YaHei"/>
                <a:ea typeface="Microsoft YaHei"/>
              </a:rPr>
              <a:t>技术栈：</a:t>
            </a:r>
            <a:r>
              <a:rPr lang="en-US" sz="1200">
                <a:solidFill>
                  <a:srgbClr val="C9B6A2"/>
                </a:solidFill>
                <a:latin typeface="Microsoft YaHei"/>
                <a:ea typeface="Microsoft YaHei"/>
              </a:rPr>
              <a:t>React · Tailwind · AntD5 · FastAPI · SQLite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1" name="" descr="&lt;Slide style={{ width: '1280px', height: '720px', background: '#FBF7F1', padding: '20px 64px' }}&gt;&#13;&#10;  &lt;Box style={{ flexDirection: 'row', alignItems: 'center', gap: 16, height: 100, borderBottom: '2px solid #E4D8C8' }}&gt;&#13;&#10;    &lt;Box style={{ width: 6, height: 48, background: '#B07A4F', borderRadius: 3 }} /&gt;&#13;&#10;    &lt;Box&gt;&#13;&#10;      &lt;Text style={{ fontSize: 34, fontWeight: 'bold', color: '#2A211A' }}&gt;内容导航&lt;/Text&gt;&#13;&#10;      &lt;Text style={{ fontSize: 18, color: '#8A7B6B', marginTop: 4 }}&gt;本次汇报的五个部分&lt;/Text&gt;&#13;&#10;    &lt;/Box&gt;&#13;&#10;    &lt;Text style={{ marginLeft: 'auto', fontSize: 16, color: '#B0A18F', letterSpacing: 2 }}&gt;CONTENTS · A—E&lt;/Text&gt;&#13;&#10;  &lt;/Box&gt;&#13;&#10;&#13;&#10;  &lt;Box style={{ flexDirection: 'row', gap: 40, marginTop: 26, height: 516 }}&gt;&#13;&#10;    &lt;Box style={{ width: '30%', background: 'linear-gradient(160deg, #2A211A, #4A3A2C)', borderRadius: 16, padding: 36, justifyContent: 'center' }}&gt;&#13;&#10;      &lt;Text style={{ fontSize: 64, fontWeight: 'bold', color: '#FFFFFF' }}&gt;05&lt;/Text&gt;&#13;&#10;      &lt;Text style={{ fontSize: 20, color: '#C9B6A2', marginTop: 8 }}&gt;个核心板块&lt;/Text&gt;&#13;&#10;      &lt;Box style={{ width: 56, height: 5, background: '#C76B3A', borderRadius: 3, marginTop: 18 }} /&gt;&#13;&#10;      &lt;Text style={{ fontSize: 15, color: '#A89584', marginTop: 18, lineHeight: 1.6 }}&gt;按&quot;背景 → 目的 → 过程 → 效果 → 心得&quot;顺序展开&lt;/Text&gt;&#13;&#10;    &lt;/Box&gt;&#13;&#10;&#13;&#10;    &lt;Box style={{ flex: 1, flexDirection: 'column', gap: 13, justifyContent: 'center' }}&gt;&#13;&#10;      {[&#13;&#10;        { k: 'a', t: '项目背景', d: '为何启动：品牌线上化诉求与旧方式痛点' },&#13;&#10;        { k: 'b', t: '开发目的', d: '三位一体官网的目标定位与价值' },&#13;&#10;        { k: 'c', t: 'WorkBuddy 需求处理截图', d: '需求沟通 / 任务拆解 / 代码生成（自备图）' },&#13;&#10;        { k: 'd', t: '项目效果截图', d: '前台首页 / 后台管理 / 接口联调（自备图）' },&#13;&#10;        { k: 'e', t: '项目心得', d: '从真实交付链路中沉淀的全栈经验' },&#13;&#10;      ].map((it, i) =&gt; (&#13;&#10;        &lt;Box key={i} style={{ flexDirection: 'row', alignItems: 'center', gap: 18, background: '#FFFFFF', borderLeft: '4px solid #B07A4F', borderRadius: 12, padding: '14px 20px', boxShadow: '0 2px 10px rgba(42,33,26,0.05)' }}&gt;&#13;&#10;          &lt;Box style={{ width: 46, height: 46, borderRadius: 12, background: '#2A211A', justifyContent: 'center', alignItems: 'center' }}&gt;&#13;&#10;            &lt;Text style={{ fontSize: 22, fontWeight: 'bold', color: '#FFFFFF' }}&gt;{it.k.toUpperCase()}&lt;/Text&gt;&#13;&#10;          &lt;/Box&gt;&#13;&#10;          &lt;Box&gt;&#13;&#10;            &lt;Text style={{ fontSize: 22, fontWeight: 'bold', color: '#2A211A' }}&gt;{it.t}&lt;/Text&gt;&#13;&#10;            &lt;Text style={{ fontSize: 15, color: '#8A7B6B', marginTop: 2 }}&gt;{it.d}&lt;/Text&gt;&#13;&#10;          &lt;/Box&gt;&#13;&#10;        &lt;/Box&gt;&#13;&#10;      ))}&#13;&#10;    &lt;/Box&gt;&#13;&#10;  &lt;/Box&gt;&#13;&#10;&#13;&#10;  &lt;Box style={{ position: 'absolute', bottom: 20, left: 64, right: 64, flexDirection: 'row', justifyContent: 'space-between' }}&gt;&#13;&#10;    &lt;Text style={{ fontSize: 14, color: '#9A8B79' }}&gt;暖禾家具 · 项目成果展示&lt;/Text&gt;&#13;&#10;    &lt;Text style={{ fontSize: 14, color: '#9A8B79' }}&gt;02 / 08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7F1"/>
          </a:solidFill>
          <a:ln/>
        </p:spPr>
        <p:txBody>
          <a:bodyPr/>
          <a:p/>
        </p:txBody>
      </p:sp>
      <p:sp>
        <p:nvSpPr>
          <p:cNvPr id="13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8"/>
                </a:moveTo>
                <a:lnTo>
                  <a:pt x="1152" y="98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E4D8C8"/>
          </a:solidFill>
          <a:ln/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609600" y="428625"/>
            <a:ext cx="57150" cy="457200"/>
          </a:xfrm>
          <a:prstGeom prst="roundRect">
            <a:avLst>
              <a:gd name="adj" fmla="val 50000"/>
            </a:avLst>
          </a:prstGeom>
          <a:solidFill>
            <a:srgbClr val="B07A4F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19150" y="342900"/>
            <a:ext cx="1543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A"/>
                </a:solidFill>
                <a:latin typeface="Microsoft YaHei"/>
                <a:ea typeface="Microsoft YaHei"/>
              </a:rPr>
              <a:t>内容导航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819150" y="771525"/>
            <a:ext cx="1543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A7B6B"/>
                </a:solidFill>
                <a:latin typeface="Microsoft YaHei"/>
                <a:ea typeface="Microsoft YaHei"/>
              </a:rPr>
              <a:t>本次汇报的五个部分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0010775" y="561975"/>
            <a:ext cx="1571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B0A18F"/>
                </a:solidFill>
                <a:latin typeface="Microsoft YaHei"/>
                <a:ea typeface="Microsoft YaHei"/>
              </a:rPr>
              <a:t>CONTENTS · A—E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09600" y="1390650"/>
            <a:ext cx="3295650" cy="4914900"/>
          </a:xfrm>
          <a:prstGeom prst="roundRect">
            <a:avLst>
              <a:gd name="adj" fmla="val 4624"/>
            </a:avLst>
          </a:prstGeom>
          <a:gradFill>
            <a:gsLst>
              <a:gs pos="0">
                <a:srgbClr val="2A211A"/>
              </a:gs>
              <a:gs pos="100000">
                <a:srgbClr val="4A3A2C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952500" y="2857500"/>
            <a:ext cx="260985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952500" y="3667125"/>
            <a:ext cx="2609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C9B6A2"/>
                </a:solidFill>
                <a:latin typeface="Microsoft YaHei"/>
                <a:ea typeface="Microsoft YaHei"/>
              </a:rPr>
              <a:t>个核心板块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952500" y="4067175"/>
            <a:ext cx="533400" cy="47625"/>
          </a:xfrm>
          <a:prstGeom prst="roundRect">
            <a:avLst>
              <a:gd name="adj" fmla="val 60000"/>
            </a:avLst>
          </a:prstGeom>
          <a:solidFill>
            <a:srgbClr val="C76B3A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952500" y="4286250"/>
            <a:ext cx="26098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A89584"/>
                </a:solidFill>
                <a:latin typeface="Microsoft YaHei"/>
                <a:ea typeface="Microsoft YaHei"/>
              </a:rPr>
              <a:t>按</a:t>
            </a:r>
            <a:r>
              <a:rPr lang="en-US" sz="1125">
                <a:solidFill>
                  <a:srgbClr val="A89584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A89584"/>
                </a:solidFill>
                <a:latin typeface="Microsoft YaHei"/>
                <a:ea typeface="Microsoft YaHei"/>
              </a:rPr>
              <a:t>背景</a:t>
            </a:r>
            <a:r>
              <a:rPr lang="en-US" sz="1125">
                <a:solidFill>
                  <a:srgbClr val="A89584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A89584"/>
                </a:solidFill>
                <a:latin typeface="Microsoft YaHei"/>
                <a:ea typeface="Microsoft YaHei"/>
              </a:rPr>
              <a:t>目的</a:t>
            </a:r>
            <a:r>
              <a:rPr lang="en-US" sz="1125">
                <a:solidFill>
                  <a:srgbClr val="A89584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A89584"/>
                </a:solidFill>
                <a:latin typeface="Microsoft YaHei"/>
                <a:ea typeface="Microsoft YaHei"/>
              </a:rPr>
              <a:t>过程</a:t>
            </a:r>
            <a:r>
              <a:rPr lang="en-US" sz="1125">
                <a:solidFill>
                  <a:srgbClr val="A89584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A89584"/>
                </a:solidFill>
                <a:latin typeface="Microsoft YaHei"/>
                <a:ea typeface="Microsoft YaHei"/>
              </a:rPr>
              <a:t>效果</a:t>
            </a:r>
            <a:r>
              <a:rPr lang="en-US" sz="1125">
                <a:solidFill>
                  <a:srgbClr val="A89584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A89584"/>
                </a:solidFill>
                <a:latin typeface="Microsoft YaHei"/>
                <a:ea typeface="Microsoft YaHei"/>
              </a:rPr>
              <a:t>心得</a:t>
            </a:r>
            <a:r>
              <a:rPr lang="en-US" sz="1125">
                <a:solidFill>
                  <a:srgbClr val="A89584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A89584"/>
                </a:solidFill>
                <a:latin typeface="Microsoft YaHei"/>
                <a:ea typeface="Microsoft YaHei"/>
              </a:rPr>
              <a:t>顺序展开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4324350" y="1819275"/>
            <a:ext cx="729615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4324350" y="1819275"/>
            <a:ext cx="7296150" cy="714375"/>
          </a:xfrm>
          <a:custGeom>
            <a:pathLst>
              <a:path w="766" h="7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67"/>
                </a:lnTo>
                <a:cubicBezTo>
                  <a:pt x="4" y="71"/>
                  <a:pt x="7" y="74"/>
                  <a:pt x="10" y="75"/>
                </a:cubicBezTo>
                <a:cubicBezTo>
                  <a:pt x="4" y="74"/>
                  <a:pt x="0" y="69"/>
                  <a:pt x="0" y="6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B07A4F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4514850" y="19621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A211A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657725" y="2057400"/>
            <a:ext cx="16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5124450" y="1952625"/>
            <a:ext cx="2571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A211A"/>
                </a:solidFill>
                <a:latin typeface="Microsoft YaHei"/>
                <a:ea typeface="Microsoft YaHei"/>
              </a:rPr>
              <a:t>项目背景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124450" y="2228850"/>
            <a:ext cx="2571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为何启动：品牌线上化诉求与旧方式痛点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4324350" y="2657475"/>
            <a:ext cx="729615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4324350" y="2657475"/>
            <a:ext cx="7296150" cy="714375"/>
          </a:xfrm>
          <a:custGeom>
            <a:pathLst>
              <a:path w="766" h="7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67"/>
                </a:lnTo>
                <a:cubicBezTo>
                  <a:pt x="4" y="71"/>
                  <a:pt x="7" y="74"/>
                  <a:pt x="10" y="75"/>
                </a:cubicBezTo>
                <a:cubicBezTo>
                  <a:pt x="4" y="74"/>
                  <a:pt x="0" y="69"/>
                  <a:pt x="0" y="6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B07A4F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4514850" y="28003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A211A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657725" y="2895600"/>
            <a:ext cx="152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5124450" y="2790825"/>
            <a:ext cx="2000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A211A"/>
                </a:solidFill>
                <a:latin typeface="Microsoft YaHei"/>
                <a:ea typeface="Microsoft YaHei"/>
              </a:rPr>
              <a:t>开发目的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124450" y="3067050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三位一体官网的目标定位与价值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4324350" y="3495675"/>
            <a:ext cx="729615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4324350" y="3495675"/>
            <a:ext cx="7296150" cy="714375"/>
          </a:xfrm>
          <a:custGeom>
            <a:pathLst>
              <a:path w="766" h="7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67"/>
                </a:lnTo>
                <a:cubicBezTo>
                  <a:pt x="4" y="71"/>
                  <a:pt x="7" y="74"/>
                  <a:pt x="10" y="75"/>
                </a:cubicBezTo>
                <a:cubicBezTo>
                  <a:pt x="4" y="74"/>
                  <a:pt x="0" y="69"/>
                  <a:pt x="0" y="6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B07A4F"/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4514850" y="36385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A211A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4667250" y="3733800"/>
            <a:ext cx="1428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124450" y="3629025"/>
            <a:ext cx="2724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A211A"/>
                </a:solidFill>
                <a:latin typeface="Microsoft YaHei"/>
                <a:ea typeface="Microsoft YaHei"/>
              </a:rPr>
              <a:t xml:space="preserve">WorkBuddy </a:t>
            </a:r>
            <a:r>
              <a:rPr lang="zh-CN" sz="1650" b="1">
                <a:solidFill>
                  <a:srgbClr val="2A211A"/>
                </a:solidFill>
                <a:latin typeface="Microsoft YaHei"/>
                <a:ea typeface="Microsoft YaHei"/>
              </a:rPr>
              <a:t>需求处理截图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5124450" y="3905250"/>
            <a:ext cx="2724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需求沟通</a:t>
            </a:r>
            <a:r>
              <a:rPr lang="en-US" sz="1125">
                <a:solidFill>
                  <a:srgbClr val="8A7B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任务拆解</a:t>
            </a:r>
            <a:r>
              <a:rPr lang="en-US" sz="1125">
                <a:solidFill>
                  <a:srgbClr val="8A7B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代码生成（自备图）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4324350" y="4333875"/>
            <a:ext cx="729615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4324350" y="4333875"/>
            <a:ext cx="7296150" cy="714375"/>
          </a:xfrm>
          <a:custGeom>
            <a:pathLst>
              <a:path w="766" h="7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67"/>
                </a:lnTo>
                <a:cubicBezTo>
                  <a:pt x="4" y="71"/>
                  <a:pt x="7" y="74"/>
                  <a:pt x="10" y="75"/>
                </a:cubicBezTo>
                <a:cubicBezTo>
                  <a:pt x="4" y="74"/>
                  <a:pt x="0" y="69"/>
                  <a:pt x="0" y="6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B07A4F"/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4514850" y="44767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A211A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648200" y="4572000"/>
            <a:ext cx="171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D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5124450" y="4467225"/>
            <a:ext cx="2724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A211A"/>
                </a:solidFill>
                <a:latin typeface="Microsoft YaHei"/>
                <a:ea typeface="Microsoft YaHei"/>
              </a:rPr>
              <a:t>项目效果截图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5124450" y="4743450"/>
            <a:ext cx="2724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前台首页</a:t>
            </a:r>
            <a:r>
              <a:rPr lang="en-US" sz="1125">
                <a:solidFill>
                  <a:srgbClr val="8A7B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后台管理</a:t>
            </a:r>
            <a:r>
              <a:rPr lang="en-US" sz="1125">
                <a:solidFill>
                  <a:srgbClr val="8A7B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接口联调（自备图）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4324350" y="5172075"/>
            <a:ext cx="729615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4324350" y="5172075"/>
            <a:ext cx="7296150" cy="714375"/>
          </a:xfrm>
          <a:custGeom>
            <a:pathLst>
              <a:path w="766" h="7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67"/>
                </a:lnTo>
                <a:cubicBezTo>
                  <a:pt x="4" y="71"/>
                  <a:pt x="7" y="74"/>
                  <a:pt x="10" y="75"/>
                </a:cubicBezTo>
                <a:cubicBezTo>
                  <a:pt x="4" y="74"/>
                  <a:pt x="0" y="69"/>
                  <a:pt x="0" y="6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B07A4F"/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4514850" y="53149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A211A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676775" y="54102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E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5124450" y="5305425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A211A"/>
                </a:solidFill>
                <a:latin typeface="Microsoft YaHei"/>
                <a:ea typeface="Microsoft YaHei"/>
              </a:rPr>
              <a:t>项目心得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124450" y="5581650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从真实交付链路中沉淀的全栈经验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8B79"/>
                </a:solidFill>
                <a:latin typeface="Microsoft YaHei"/>
                <a:ea typeface="Microsoft YaHei"/>
              </a:rPr>
              <a:t>暖禾家具</a:t>
            </a:r>
            <a:r>
              <a:rPr lang="en-US" sz="1050">
                <a:solidFill>
                  <a:srgbClr val="9A8B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A8B79"/>
                </a:solidFill>
                <a:latin typeface="Microsoft YaHei"/>
                <a:ea typeface="Microsoft YaHei"/>
              </a:rPr>
              <a:t>项目成果展示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11252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8B79"/>
                </a:solidFill>
                <a:latin typeface="Microsoft YaHei"/>
                <a:ea typeface="Microsoft YaHei"/>
              </a:rPr>
              <a:t>02 / 08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5" name="" descr="&lt;Slide style={{ width: '1280px', height: '720px', background: '#FBF7F1', padding: '20px 64px' }}&gt;&#13;&#10;  &lt;Box style={{ flexDirection: 'row', alignItems: 'center', gap: 16, height: 100, borderBottom: '2px solid #E4D8C8' }}&gt;&#13;&#10;    &lt;Box style={{ width: 6, height: 48, background: '#B07A4F', borderRadius: 3 }} /&gt;&#13;&#10;    &lt;Box&gt;&#13;&#10;      &lt;Text style={{ fontSize: 34, fontWeight: 'bold', color: '#2A211A' }}&gt;a）项目背景&lt;/Text&gt;&#13;&#10;      &lt;Text style={{ fontSize: 18, color: '#8A7B6B', marginTop: 4 }}&gt;为何要启动 暖禾家具企业官网&lt;/Text&gt;&#13;&#10;    &lt;/Box&gt;&#13;&#10;    &lt;Text style={{ marginLeft: 'auto', fontSize: 16, color: '#B0A18F', letterSpacing: 2 }}&gt;BACKGROUND&lt;/Text&gt;&#13;&#10;  &lt;/Box&gt;&#13;&#10;&#13;&#10;  &lt;Box style={{ flexDirection: 'row', gap: 40, marginTop: 22, height: 518 }}&gt;&#13;&#10;    &lt;Box style={{ width: '62%', flexDirection: 'column', justifyContent: 'center', gap: 20 }}&gt;&#13;&#10;      &lt;Text style={{ fontSize: 22, fontWeight: 'bold', color: '#2A211A', lineHeight: 1.5 }}&gt;暖禾家具：集研发、制造、销售于一体的家居企业&lt;/Text&gt;&#13;&#10;      &lt;Text style={{ fontSize: 19, color: '#5A4F45', lineHeight: 1.7 }}&gt;&#13;&#10;        为提升品牌形象、承接招聘与品牌展示，企业亟需一套「前台企业官网 + 后台管理系统」。前台用于品牌展示、产品与案例发布、新闻与招聘信息呈现、客户留言预约；后台供运营人员高效维护全部内容，并支持多角色分级权限。&#13;&#10;      &lt;/Text&gt;&#13;&#10;      &lt;Text style={{ fontSize: 19, color: '#5A4F45', lineHeight: 1.7 }}&gt;&#13;&#10;        本项目以 PRD、UIUX、数据库设计、开发技术、实施方案五份文档为基线，最终落地为「前台官网 + 后台管理 + 后端服务」三位一体的全栈交付物。&#13;&#10;      &lt;/Text&gt;&#13;&#10;      &lt;Box style={{ flexDirection: 'row', gap: 16, marginTop: 4 }}&gt;&#13;&#10;        &lt;Box style={{ flex: 1, background: '#FFFFFF', borderRadius: 12, padding: '16px 18px', borderLeft: '4px solid #C76B3A' }}&gt;&#13;&#10;          &lt;Text style={{ fontSize: 30, fontWeight: 'bold', color: '#C76B3A' }}&gt;5&lt;/Text&gt;&#13;&#10;          &lt;Text style={{ fontSize: 15, color: '#8A7B6B', marginTop: 2 }}&gt;前台主导航栏目&lt;/Text&gt;&#13;&#10;        &lt;/Box&gt;&#13;&#10;        &lt;Box style={{ flex: 1, background: '#FFFFFF', borderRadius: 12, padding: '16px 18px', borderLeft: '4px solid #C76B3A' }}&gt;&#13;&#10;          &lt;Text style={{ fontSize: 30, fontWeight: 'bold', color: '#C76B3A' }}&gt;11&lt;/Text&gt;&#13;&#10;          &lt;Text style={{ fontSize: 15, color: '#8A7B6B', marginTop: 2 }}&gt;后台管理模块&lt;/Text&gt;&#13;&#10;        &lt;/Box&gt;&#13;&#10;        &lt;Box style={{ flex: 1, background: '#FFFFFF', borderRadius: 12, padding: '16px 18px', borderLeft: '4px solid #C76B3A' }}&gt;&#13;&#10;          &lt;Text style={{ fontSize: 30, fontWeight: 'bold', color: '#C76B3A' }}&gt;3&lt;/Text&gt;&#13;&#10;          &lt;Text style={{ fontSize: 15, color: '#8A7B6B', marginTop: 2 }}&gt;目录解耦工程&lt;/Text&gt;&#13;&#10;        &lt;/Box&gt;&#13;&#10;      &lt;/Box&gt;&#13;&#10;    &lt;/Box&gt;&#13;&#10;&#13;&#10;    &lt;Box style={{ width: '38%', flexDirection: 'column', gap: 14, justifyContent: 'center' }}&gt;&#13;&#10;      &lt;Text style={{ fontSize: 17, fontWeight: 'bold', color: '#2A211A', marginBottom: 2 }}&gt;旧方式的三类痛点&lt;/Text&gt;&#13;&#10;      {[&#13;&#10;        { t: '展示单一', d: '缺乏统一官网，品牌形象分散' },&#13;&#10;        { t: '后台低效', d: '内容维护依赖开发，响应慢' },&#13;&#10;        { t: '无统一入口', d: '招聘、留言、预约分散难沉淀' },&#13;&#10;      ].map((it, i) =&gt; (&#13;&#10;        &lt;Box key={i} style={{ flexDirection: 'row', gap: 14, alignItems: 'flex-start', background: '#FFFFFF', borderRadius: 12, padding: '14px 16px', boxShadow: '0 2px 10px rgba(42,33,26,0.05)' }}&gt;&#13;&#10;          &lt;Box style={{ width: 38, height: 38, borderRadius: 10, background: '#2A211A', justifyContent: 'center', alignItems: 'center', flexShrink: 0 }}&gt;&#13;&#10;            &lt;Text style={{ fontSize: 18, fontWeight: 'bold', color: '#FFFFFF' }}&gt;{i + 1}&lt;/Text&gt;&#13;&#10;          &lt;/Box&gt;&#13;&#10;          &lt;Box&gt;&#13;&#10;            &lt;Text style={{ fontSize: 18, fontWeight: 'bold', color: '#2A211A' }}&gt;{it.t}&lt;/Text&gt;&#13;&#10;            &lt;Text style={{ fontSize: 14, color: '#8A7B6B', marginTop: 2 }}&gt;{it.d}&lt;/Text&gt;&#13;&#10;          &lt;/Box&gt;&#13;&#10;        &lt;/Box&gt;&#13;&#10;      ))}&#13;&#10;    &lt;/Box&gt;&#13;&#10;  &lt;/Box&gt;&#13;&#10;&#13;&#10;  &lt;Box style={{ position: 'absolute', bottom: 20, left: 64, right: 64, flexDirection: 'row', justifyContent: 'space-between' }}&gt;&#13;&#10;    &lt;Text style={{ fontSize: 14, color: '#9A8B79' }}&gt;暖禾家具 · 项目成果展示&lt;/Text&gt;&#13;&#10;    &lt;Text style={{ fontSize: 14, color: '#9A8B79' }}&gt;03 / 08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7F1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8"/>
                </a:moveTo>
                <a:lnTo>
                  <a:pt x="1152" y="98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E4D8C8"/>
          </a:soli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609600" y="428625"/>
            <a:ext cx="57150" cy="457200"/>
          </a:xfrm>
          <a:prstGeom prst="roundRect">
            <a:avLst>
              <a:gd name="adj" fmla="val 50000"/>
            </a:avLst>
          </a:prstGeom>
          <a:solidFill>
            <a:srgbClr val="B07A4F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19150" y="342900"/>
            <a:ext cx="2286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A211A"/>
                </a:solidFill>
                <a:latin typeface="Microsoft YaHei"/>
                <a:ea typeface="Microsoft YaHei"/>
              </a:rPr>
              <a:t>a</a:t>
            </a:r>
            <a:r>
              <a:rPr lang="zh-CN" sz="2550" b="1">
                <a:solidFill>
                  <a:srgbClr val="2A211A"/>
                </a:solidFill>
                <a:latin typeface="Microsoft YaHei"/>
                <a:ea typeface="Microsoft YaHei"/>
              </a:rPr>
              <a:t>）项目背景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19150" y="771525"/>
            <a:ext cx="2286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A7B6B"/>
                </a:solidFill>
                <a:latin typeface="Microsoft YaHei"/>
                <a:ea typeface="Microsoft YaHei"/>
              </a:rPr>
              <a:t>为何要启动</a:t>
            </a:r>
            <a:r>
              <a:rPr lang="en-US" sz="1350">
                <a:solidFill>
                  <a:srgbClr val="8A7B6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>
                <a:solidFill>
                  <a:srgbClr val="8A7B6B"/>
                </a:solidFill>
                <a:latin typeface="Microsoft YaHei"/>
                <a:ea typeface="Microsoft YaHei"/>
              </a:rPr>
              <a:t>暖禾家具企业官网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0296525" y="561975"/>
            <a:ext cx="1285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B0A18F"/>
                </a:solidFill>
                <a:latin typeface="Microsoft YaHei"/>
                <a:ea typeface="Microsoft YaHei"/>
              </a:rPr>
              <a:t>BACKGROUND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09600" y="1981200"/>
            <a:ext cx="6562725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2A211A"/>
                </a:solidFill>
                <a:latin typeface="Microsoft YaHei"/>
                <a:ea typeface="Microsoft YaHei"/>
              </a:rPr>
              <a:t>暖禾家具：集研发、制造、销售于一体的家居企业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09600" y="2552700"/>
            <a:ext cx="6562725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5A4F45"/>
                </a:solidFill>
                <a:latin typeface="Microsoft YaHei"/>
                <a:ea typeface="Microsoft YaHei"/>
              </a:rPr>
              <a:t>为提升品牌形象、承接招聘与品牌展示，企业亟需一套「前台企业官网</a:t>
            </a:r>
            <a:r>
              <a:rPr lang="en-US" sz="1425">
                <a:solidFill>
                  <a:srgbClr val="5A4F45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>
                <a:solidFill>
                  <a:srgbClr val="5A4F45"/>
                </a:solidFill>
                <a:latin typeface="Microsoft YaHei"/>
                <a:ea typeface="Microsoft YaHei"/>
              </a:rPr>
              <a:t>后台管理系统」。前台用于品牌展示、产品与案例发布、新闻与招聘信息呈现、客户留言预约；后台供运营人员高效维护全部内容，并支持多角色分级权限。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09600" y="3857625"/>
            <a:ext cx="6562725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5A4F45"/>
                </a:solidFill>
                <a:latin typeface="Microsoft YaHei"/>
                <a:ea typeface="Microsoft YaHei"/>
              </a:rPr>
              <a:t>本项目以</a:t>
            </a:r>
            <a:r>
              <a:rPr lang="en-US" sz="1425">
                <a:solidFill>
                  <a:srgbClr val="5A4F45"/>
                </a:solidFill>
                <a:latin typeface="Microsoft YaHei"/>
                <a:ea typeface="Microsoft YaHei"/>
              </a:rPr>
              <a:t xml:space="preserve"> PRD</a:t>
            </a:r>
            <a:r>
              <a:rPr lang="zh-CN" sz="1425">
                <a:solidFill>
                  <a:srgbClr val="5A4F45"/>
                </a:solidFill>
                <a:latin typeface="Microsoft YaHei"/>
                <a:ea typeface="Microsoft YaHei"/>
              </a:rPr>
              <a:t>、</a:t>
            </a:r>
            <a:r>
              <a:rPr lang="en-US" sz="1425">
                <a:solidFill>
                  <a:srgbClr val="5A4F45"/>
                </a:solidFill>
                <a:latin typeface="Microsoft YaHei"/>
                <a:ea typeface="Microsoft YaHei"/>
              </a:rPr>
              <a:t>UIUX</a:t>
            </a:r>
            <a:r>
              <a:rPr lang="zh-CN" sz="1425">
                <a:solidFill>
                  <a:srgbClr val="5A4F45"/>
                </a:solidFill>
                <a:latin typeface="Microsoft YaHei"/>
                <a:ea typeface="Microsoft YaHei"/>
              </a:rPr>
              <a:t>、数据库设计、开发技术、实施方案五份文档为基线，最终落地为「前台官网</a:t>
            </a:r>
            <a:r>
              <a:rPr lang="en-US" sz="1425">
                <a:solidFill>
                  <a:srgbClr val="5A4F45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>
                <a:solidFill>
                  <a:srgbClr val="5A4F45"/>
                </a:solidFill>
                <a:latin typeface="Microsoft YaHei"/>
                <a:ea typeface="Microsoft YaHei"/>
              </a:rPr>
              <a:t>后台管理</a:t>
            </a:r>
            <a:r>
              <a:rPr lang="en-US" sz="1425">
                <a:solidFill>
                  <a:srgbClr val="5A4F45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>
                <a:solidFill>
                  <a:srgbClr val="5A4F45"/>
                </a:solidFill>
                <a:latin typeface="Microsoft YaHei"/>
                <a:ea typeface="Microsoft YaHei"/>
              </a:rPr>
              <a:t>后端服务」三位一体的全栈交付物。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47700" y="4829175"/>
            <a:ext cx="2085975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647700" y="4829175"/>
            <a:ext cx="2085975" cy="838200"/>
          </a:xfrm>
          <a:custGeom>
            <a:pathLst>
              <a:path w="219" h="88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0"/>
                </a:lnTo>
                <a:cubicBezTo>
                  <a:pt x="4" y="84"/>
                  <a:pt x="7" y="87"/>
                  <a:pt x="10" y="88"/>
                </a:cubicBezTo>
                <a:cubicBezTo>
                  <a:pt x="4" y="87"/>
                  <a:pt x="0" y="82"/>
                  <a:pt x="0" y="7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C76B3A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19150" y="4981575"/>
            <a:ext cx="1704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C76B3A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19150" y="5343525"/>
            <a:ext cx="1704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前台主导航栏目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2886075" y="4829175"/>
            <a:ext cx="2085975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2886075" y="4829175"/>
            <a:ext cx="2085975" cy="838200"/>
          </a:xfrm>
          <a:custGeom>
            <a:pathLst>
              <a:path w="219" h="88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0"/>
                </a:lnTo>
                <a:cubicBezTo>
                  <a:pt x="4" y="84"/>
                  <a:pt x="7" y="87"/>
                  <a:pt x="10" y="88"/>
                </a:cubicBezTo>
                <a:cubicBezTo>
                  <a:pt x="4" y="87"/>
                  <a:pt x="0" y="82"/>
                  <a:pt x="0" y="7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C76B3A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3057525" y="4981575"/>
            <a:ext cx="1704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C76B3A"/>
                </a:solidFill>
                <a:latin typeface="Microsoft YaHei"/>
                <a:ea typeface="Microsoft YaHei"/>
              </a:rPr>
              <a:t>11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3057525" y="5343525"/>
            <a:ext cx="1704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后台管理模块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5124450" y="4829175"/>
            <a:ext cx="2085975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5124450" y="4829175"/>
            <a:ext cx="2085975" cy="838200"/>
          </a:xfrm>
          <a:custGeom>
            <a:pathLst>
              <a:path w="219" h="88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0"/>
                </a:lnTo>
                <a:cubicBezTo>
                  <a:pt x="4" y="84"/>
                  <a:pt x="7" y="87"/>
                  <a:pt x="10" y="88"/>
                </a:cubicBezTo>
                <a:cubicBezTo>
                  <a:pt x="4" y="87"/>
                  <a:pt x="0" y="82"/>
                  <a:pt x="0" y="7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C76B3A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295900" y="4981575"/>
            <a:ext cx="1704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C76B3A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295900" y="5343525"/>
            <a:ext cx="1704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目录解耦工程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553325" y="2524125"/>
            <a:ext cx="4029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A211A"/>
                </a:solidFill>
                <a:latin typeface="Microsoft YaHei"/>
                <a:ea typeface="Microsoft YaHei"/>
              </a:rPr>
              <a:t>旧方式的三类痛点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7553325" y="2876550"/>
            <a:ext cx="4029075" cy="65722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7705725" y="3009900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2A211A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829550" y="30861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201025" y="3009900"/>
            <a:ext cx="1733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211A"/>
                </a:solidFill>
                <a:latin typeface="Microsoft YaHei"/>
                <a:ea typeface="Microsoft YaHei"/>
              </a:rPr>
              <a:t>展示单一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201025" y="3238500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7B6B"/>
                </a:solidFill>
                <a:latin typeface="Microsoft YaHei"/>
                <a:ea typeface="Microsoft YaHei"/>
              </a:rPr>
              <a:t>缺乏统一官网，品牌形象分散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7553325" y="3667125"/>
            <a:ext cx="4029075" cy="65722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84" name=""/>
          <p:cNvSpPr/>
          <p:nvPr/>
        </p:nvSpPr>
        <p:spPr>
          <a:xfrm rot="0" flipH="0" flipV="0">
            <a:off x="7705725" y="380047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2A211A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829550" y="38766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201025" y="3800475"/>
            <a:ext cx="1600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211A"/>
                </a:solidFill>
                <a:latin typeface="Microsoft YaHei"/>
                <a:ea typeface="Microsoft YaHei"/>
              </a:rPr>
              <a:t>后台低效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201025" y="40290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7B6B"/>
                </a:solidFill>
                <a:latin typeface="Microsoft YaHei"/>
                <a:ea typeface="Microsoft YaHei"/>
              </a:rPr>
              <a:t>内容维护依赖开发，响应慢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7553325" y="4457700"/>
            <a:ext cx="4029075" cy="65722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7705725" y="4591050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2A211A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7829550" y="46672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201025" y="4591050"/>
            <a:ext cx="1733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211A"/>
                </a:solidFill>
                <a:latin typeface="Microsoft YaHei"/>
                <a:ea typeface="Microsoft YaHei"/>
              </a:rPr>
              <a:t>无统一入口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201025" y="4819650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7B6B"/>
                </a:solidFill>
                <a:latin typeface="Microsoft YaHei"/>
                <a:ea typeface="Microsoft YaHei"/>
              </a:rPr>
              <a:t>招聘、留言、预约分散难沉淀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8B79"/>
                </a:solidFill>
                <a:latin typeface="Microsoft YaHei"/>
                <a:ea typeface="Microsoft YaHei"/>
              </a:rPr>
              <a:t>暖禾家具</a:t>
            </a:r>
            <a:r>
              <a:rPr lang="en-US" sz="1050">
                <a:solidFill>
                  <a:srgbClr val="9A8B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A8B79"/>
                </a:solidFill>
                <a:latin typeface="Microsoft YaHei"/>
                <a:ea typeface="Microsoft YaHei"/>
              </a:rPr>
              <a:t>项目成果展示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11252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8B79"/>
                </a:solidFill>
                <a:latin typeface="Microsoft YaHei"/>
                <a:ea typeface="Microsoft YaHei"/>
              </a:rPr>
              <a:t>03 / 08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5" name="" descr="&lt;Slide style={{ width: '1280px', height: '720px', background: '#FBF7F1', padding: '20px 64px' }}&gt;&#13;&#10;  &lt;Box style={{ flexDirection: 'row', alignItems: 'center', gap: 16, height: 100, borderBottom: '2px solid #E4D8C8' }}&gt;&#13;&#10;    &lt;Box style={{ width: 6, height: 48, background: '#B07A4F', borderRadius: 3 }} /&gt;&#13;&#10;    &lt;Box&gt;&#13;&#10;      &lt;Text style={{ fontSize: 34, fontWeight: 'bold', color: '#2A211A' }}&gt;b）开发目的&lt;/Text&gt;&#13;&#10;      &lt;Text style={{ fontSize: 18, color: '#8A7B6B', marginTop: 4 }}&gt;四位一体的目标定位&lt;/Text&gt;&#13;&#10;    &lt;/Box&gt;&#13;&#10;    &lt;Text style={{ marginLeft: 'auto', fontSize: 16, color: '#B0A18F', letterSpacing: 2 }}&gt;OBJECTIVES&lt;/Text&gt;&#13;&#10;  &lt;/Box&gt;&#13;&#10;&#13;&#10;  &lt;Box style={{ flexDirection: 'row', gap: 40, marginTop: 22, height: 518 }}&gt;&#13;&#10;    &lt;Box style={{ width: '30%', flexDirection: 'column', justifyContent: 'center', gap: 18 }}&gt;&#13;&#10;      &lt;Box style={{ width: 64, height: 64, borderRadius: 16, background: 'linear-gradient(160deg, #2A211A, #4A3A2C)', justifyContent: 'center', alignItems: 'center' }}&gt;&#13;&#10;        &lt;FAIcon name='bullseye' style={{ fill: '#C76B3A', width: 34, height: 34 }} /&gt;&#13;&#10;      &lt;/Box&gt;&#13;&#10;      &lt;Text style={{ fontSize: 24, fontWeight: 'bold', color: '#2A211A', lineHeight: 1.4 }}&gt;把&quot;展示 + 运营 + 工程能力&quot;一次讲清&lt;/Text&gt;&#13;&#10;      &lt;Text style={{ fontSize: 18, color: '#5A4F45', lineHeight: 1.7 }}&gt;&#13;&#10;        不堆技术细节，而是用真实可运行的交付物，证明从需求到上线全链路的落地能力，为课程答辩与作品集提供硬证据。&#13;&#10;      &lt;/Text&gt;&#13;&#10;      &lt;Box style={{ width: 56, height: 5, background: '#C76B3A', borderRadius: 3 }} /&gt;&#13;&#10;    &lt;/Box&gt;&#13;&#10;&#13;&#10;    &lt;Box style={{ flex: 1, flexDirection: 'row', flexWrap: 'wrap', gap: 20, alignContent: 'center' }}&gt;&#13;&#10;      {[&#13;&#10;        { ic: 'sitemap', t: '三位一体官网', d: '前台展示 + 后台管理 + 后端服务，单仓库三目录解耦，职责清晰可独立部署' },&#13;&#10;        { ic: 'chart-line', t: '提升品牌获客', d: '统一品牌形象窗口，沉淀留言/预约/简历投递线索，支撑招聘与品牌展示' },&#13;&#10;        { ic: 'code', t: '全栈能力验证', d: 'React + Tailwind / AntD5 前端，FastAPI + SQLite 后端，RBAC 与 JWT 鉴权落地' },&#13;&#10;        { ic: 'rocket', t: '可一键部署底座', d: '标准化启动脚本与 Nginx 反代建议，Swagger 自动文档，工程可复用到新项目' },&#13;&#10;      ].map((it, i) =&gt; (&#13;&#10;        &lt;Box key={i} style={{ width: 'calc(50% - 10px)', background: '#FFFFFF', borderRadius: 14, padding: '20px 22px', borderTop: '4px solid #B07A4F', boxShadow: '0 2px 12px rgba(42,33,26,0.06)' }}&gt;&#13;&#10;          &lt;Box style={{ flexDirection: 'row', alignItems: 'center', gap: 14, marginBottom: 10 }}&gt;&#13;&#10;            &lt;Box style={{ width: 46, height: 46, borderRadius: 12, background: '#F2E9DC', justifyContent: 'center', alignItems: 'center' }}&gt;&#13;&#10;              &lt;FAIcon name={it.ic} style={{ fill: '#B07A4F', width: 26, height: 26 }} /&gt;&#13;&#10;            &lt;/Box&gt;&#13;&#10;            &lt;Text style={{ fontSize: 21, fontWeight: 'bold', color: '#2A211A' }}&gt;{it.t}&lt;/Text&gt;&#13;&#10;          &lt;/Box&gt;&#13;&#10;          &lt;Text style={{ fontSize: 16, color: '#5A4F45', lineHeight: 1.6 }}&gt;{it.d}&lt;/Text&gt;&#13;&#10;        &lt;/Box&gt;&#13;&#10;      ))}&#13;&#10;    &lt;/Box&gt;&#13;&#10;  &lt;/Box&gt;&#13;&#10;&#13;&#10;  &lt;Box style={{ position: 'absolute', bottom: 20, left: 64, right: 64, flexDirection: 'row', justifyContent: 'space-between' }}&gt;&#13;&#10;    &lt;Text style={{ fontSize: 14, color: '#9A8B79' }}&gt;暖禾家具 · 项目成果展示&lt;/Text&gt;&#13;&#10;    &lt;Text style={{ fontSize: 14, color: '#9A8B79' }}&gt;04 / 08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7F1"/>
          </a:solidFill>
          <a:ln/>
        </p:spPr>
        <p:txBody>
          <a:bodyPr/>
          <a:p/>
        </p:txBody>
      </p:sp>
      <p:sp>
        <p:nvSpPr>
          <p:cNvPr id="97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8"/>
                </a:moveTo>
                <a:lnTo>
                  <a:pt x="1152" y="98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E4D8C8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609600" y="428625"/>
            <a:ext cx="57150" cy="457200"/>
          </a:xfrm>
          <a:prstGeom prst="roundRect">
            <a:avLst>
              <a:gd name="adj" fmla="val 50000"/>
            </a:avLst>
          </a:prstGeom>
          <a:solidFill>
            <a:srgbClr val="B07A4F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19150" y="342900"/>
            <a:ext cx="18383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A211A"/>
                </a:solidFill>
                <a:latin typeface="Microsoft YaHei"/>
                <a:ea typeface="Microsoft YaHei"/>
              </a:rPr>
              <a:t>b</a:t>
            </a:r>
            <a:r>
              <a:rPr lang="zh-CN" sz="2550" b="1">
                <a:solidFill>
                  <a:srgbClr val="2A211A"/>
                </a:solidFill>
                <a:latin typeface="Microsoft YaHei"/>
                <a:ea typeface="Microsoft YaHei"/>
              </a:rPr>
              <a:t>）开发目的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19150" y="771525"/>
            <a:ext cx="1838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A7B6B"/>
                </a:solidFill>
                <a:latin typeface="Microsoft YaHei"/>
                <a:ea typeface="Microsoft YaHei"/>
              </a:rPr>
              <a:t>四位一体的目标定位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0515600" y="561975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B0A18F"/>
                </a:solidFill>
                <a:latin typeface="Microsoft YaHei"/>
                <a:ea typeface="Microsoft YaHei"/>
              </a:rPr>
              <a:t>OBJECTIVES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09600" y="2324100"/>
            <a:ext cx="609600" cy="6096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211A"/>
              </a:gs>
              <a:gs pos="100000">
                <a:srgbClr val="4A3A2C"/>
              </a:gs>
            </a:gsLst>
            <a:lin ang="4200000" scaled="1"/>
          </a:gradFill>
          <a:ln/>
        </p:spPr>
        <p:txBody>
          <a:bodyPr/>
          <a:p/>
        </p:txBody>
      </p:sp>
      <p:pic>
        <p:nvPicPr>
          <p:cNvPr id="1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52475" y="2466975"/>
            <a:ext cx="323850" cy="323850"/>
          </a:xfrm>
          <a:prstGeom prst="rect">
            <a:avLst/>
          </a:prstGeom>
          <a:ln/>
        </p:spPr>
      </p:pic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09600" y="3105150"/>
            <a:ext cx="32956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2A211A"/>
                </a:solidFill>
                <a:latin typeface="Microsoft YaHei"/>
                <a:ea typeface="Microsoft YaHei"/>
              </a:rPr>
              <a:t>把</a:t>
            </a:r>
            <a:r>
              <a:rPr lang="en-US" sz="1800" b="1">
                <a:solidFill>
                  <a:srgbClr val="2A211A"/>
                </a:solidFill>
                <a:latin typeface="Microsoft YaHei"/>
                <a:ea typeface="Microsoft YaHei"/>
              </a:rPr>
              <a:t>"</a:t>
            </a:r>
            <a:r>
              <a:rPr lang="zh-CN" sz="1800" b="1">
                <a:solidFill>
                  <a:srgbClr val="2A211A"/>
                </a:solidFill>
                <a:latin typeface="Microsoft YaHei"/>
                <a:ea typeface="Microsoft YaHei"/>
              </a:rPr>
              <a:t>展示</a:t>
            </a:r>
            <a:r>
              <a:rPr lang="en-US" sz="1800" b="1">
                <a:solidFill>
                  <a:srgbClr val="2A211A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800" b="1">
                <a:solidFill>
                  <a:srgbClr val="2A211A"/>
                </a:solidFill>
                <a:latin typeface="Microsoft YaHei"/>
                <a:ea typeface="Microsoft YaHei"/>
              </a:rPr>
              <a:t>运营</a:t>
            </a:r>
            <a:r>
              <a:rPr lang="en-US" sz="1800" b="1">
                <a:solidFill>
                  <a:srgbClr val="2A211A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800" b="1">
                <a:solidFill>
                  <a:srgbClr val="2A211A"/>
                </a:solidFill>
                <a:latin typeface="Microsoft YaHei"/>
                <a:ea typeface="Microsoft YaHei"/>
              </a:rPr>
              <a:t>工程能力</a:t>
            </a:r>
            <a:r>
              <a:rPr lang="en-US" sz="1800" b="1">
                <a:solidFill>
                  <a:srgbClr val="2A211A"/>
                </a:solidFill>
                <a:latin typeface="Microsoft YaHei"/>
                <a:ea typeface="Microsoft YaHei"/>
              </a:rPr>
              <a:t>"</a:t>
            </a:r>
            <a:r>
              <a:rPr lang="zh-CN" sz="1800" b="1">
                <a:solidFill>
                  <a:srgbClr val="2A211A"/>
                </a:solidFill>
                <a:latin typeface="Microsoft YaHei"/>
                <a:ea typeface="Microsoft YaHei"/>
              </a:rPr>
              <a:t>一次讲清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09600" y="4048125"/>
            <a:ext cx="329565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5A4F45"/>
                </a:solidFill>
                <a:latin typeface="Microsoft YaHei"/>
                <a:ea typeface="Microsoft YaHei"/>
              </a:rPr>
              <a:t>不堆技术细节，而是用真实可运行的交付物，证明从需求到上线全链路的落地能力，为课程答辩与作品集提供硬证据。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09600" y="5276850"/>
            <a:ext cx="533400" cy="47625"/>
          </a:xfrm>
          <a:prstGeom prst="roundRect">
            <a:avLst>
              <a:gd name="adj" fmla="val 60000"/>
            </a:avLst>
          </a:prstGeom>
          <a:solidFill>
            <a:srgbClr val="C76B3A"/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4286250" y="1390650"/>
            <a:ext cx="3552825" cy="2371725"/>
          </a:xfrm>
          <a:prstGeom prst="roundRect">
            <a:avLst>
              <a:gd name="adj" fmla="val 562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2A211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4286250" y="1390650"/>
            <a:ext cx="3552825" cy="2371725"/>
          </a:xfrm>
          <a:custGeom>
            <a:pathLst>
              <a:path w="373" h="249">
                <a:moveTo>
                  <a:pt x="360" y="0"/>
                </a:moveTo>
                <a:cubicBezTo>
                  <a:pt x="366" y="0"/>
                  <a:pt x="371" y="5"/>
                  <a:pt x="373" y="11"/>
                </a:cubicBezTo>
                <a:cubicBezTo>
                  <a:pt x="371" y="7"/>
                  <a:pt x="367" y="4"/>
                  <a:pt x="363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9" y="0"/>
                </a:lnTo>
                <a:close/>
              </a:path>
            </a:pathLst>
          </a:custGeom>
          <a:solidFill>
            <a:srgbClr val="B07A4F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4495800" y="15811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2E9DC"/>
          </a:solidFill>
          <a:ln/>
        </p:spPr>
        <p:txBody>
          <a:bodyPr/>
          <a:p/>
        </p:txBody>
      </p:sp>
      <p:pic>
        <p:nvPicPr>
          <p:cNvPr id="1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91050" y="1676400"/>
            <a:ext cx="247650" cy="247650"/>
          </a:xfrm>
          <a:prstGeom prst="rect">
            <a:avLst/>
          </a:prstGeom>
          <a:ln/>
        </p:spPr>
      </p:pic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5067300" y="1676400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A211A"/>
                </a:solidFill>
                <a:latin typeface="Microsoft YaHei"/>
                <a:ea typeface="Microsoft YaHei"/>
              </a:rPr>
              <a:t>三位一体官网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495800" y="2114550"/>
            <a:ext cx="31337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A4F45"/>
                </a:solidFill>
                <a:latin typeface="Microsoft YaHei"/>
                <a:ea typeface="Microsoft YaHei"/>
              </a:rPr>
              <a:t>前台展示</a:t>
            </a:r>
            <a:r>
              <a:rPr lang="en-US" sz="1200">
                <a:solidFill>
                  <a:srgbClr val="5A4F45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5A4F45"/>
                </a:solidFill>
                <a:latin typeface="Microsoft YaHei"/>
                <a:ea typeface="Microsoft YaHei"/>
              </a:rPr>
              <a:t>后台管理</a:t>
            </a:r>
            <a:r>
              <a:rPr lang="en-US" sz="1200">
                <a:solidFill>
                  <a:srgbClr val="5A4F45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5A4F45"/>
                </a:solidFill>
                <a:latin typeface="Microsoft YaHei"/>
                <a:ea typeface="Microsoft YaHei"/>
              </a:rPr>
              <a:t>后端服务，单仓库三目录解耦，职责清晰可独立部署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8029575" y="1390650"/>
            <a:ext cx="3552825" cy="2371725"/>
          </a:xfrm>
          <a:prstGeom prst="roundRect">
            <a:avLst>
              <a:gd name="adj" fmla="val 562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2A211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4" name=""/>
          <p:cNvSpPr/>
          <p:nvPr/>
        </p:nvSpPr>
        <p:spPr>
          <a:xfrm rot="0" flipH="0" flipV="0">
            <a:off x="8029575" y="1390650"/>
            <a:ext cx="3552825" cy="2371725"/>
          </a:xfrm>
          <a:custGeom>
            <a:pathLst>
              <a:path w="373" h="249">
                <a:moveTo>
                  <a:pt x="360" y="0"/>
                </a:moveTo>
                <a:cubicBezTo>
                  <a:pt x="366" y="0"/>
                  <a:pt x="371" y="5"/>
                  <a:pt x="373" y="11"/>
                </a:cubicBezTo>
                <a:cubicBezTo>
                  <a:pt x="371" y="7"/>
                  <a:pt x="367" y="4"/>
                  <a:pt x="363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9" y="0"/>
                </a:lnTo>
                <a:close/>
              </a:path>
            </a:pathLst>
          </a:custGeom>
          <a:solidFill>
            <a:srgbClr val="B07A4F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8239125" y="15811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2E9DC"/>
          </a:solidFill>
          <a:ln/>
        </p:spPr>
        <p:txBody>
          <a:bodyPr/>
          <a:p/>
        </p:txBody>
      </p:sp>
      <p:pic>
        <p:nvPicPr>
          <p:cNvPr id="1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34375" y="1676400"/>
            <a:ext cx="247650" cy="247650"/>
          </a:xfrm>
          <a:prstGeom prst="rect">
            <a:avLst/>
          </a:prstGeom>
          <a:ln/>
        </p:spPr>
      </p:pic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810625" y="1676400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A211A"/>
                </a:solidFill>
                <a:latin typeface="Microsoft YaHei"/>
                <a:ea typeface="Microsoft YaHei"/>
              </a:rPr>
              <a:t>提升品牌获客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239125" y="2114550"/>
            <a:ext cx="31337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A4F45"/>
                </a:solidFill>
                <a:latin typeface="Microsoft YaHei"/>
                <a:ea typeface="Microsoft YaHei"/>
              </a:rPr>
              <a:t>统一品牌形象窗口，沉淀留言</a:t>
            </a:r>
            <a:r>
              <a:rPr lang="en-US" sz="1200">
                <a:solidFill>
                  <a:srgbClr val="5A4F45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5A4F45"/>
                </a:solidFill>
                <a:latin typeface="Microsoft YaHei"/>
                <a:ea typeface="Microsoft YaHei"/>
              </a:rPr>
              <a:t>预约</a:t>
            </a:r>
            <a:r>
              <a:rPr lang="en-US" sz="1200">
                <a:solidFill>
                  <a:srgbClr val="5A4F45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5A4F45"/>
                </a:solidFill>
                <a:latin typeface="Microsoft YaHei"/>
                <a:ea typeface="Microsoft YaHei"/>
              </a:rPr>
              <a:t>简历投递线索，支撑招聘与品牌展示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4286250" y="3952875"/>
            <a:ext cx="3552825" cy="2371725"/>
          </a:xfrm>
          <a:prstGeom prst="roundRect">
            <a:avLst>
              <a:gd name="adj" fmla="val 562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2A211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4286250" y="3952875"/>
            <a:ext cx="3552825" cy="2371725"/>
          </a:xfrm>
          <a:custGeom>
            <a:pathLst>
              <a:path w="373" h="249">
                <a:moveTo>
                  <a:pt x="360" y="0"/>
                </a:moveTo>
                <a:cubicBezTo>
                  <a:pt x="366" y="0"/>
                  <a:pt x="371" y="5"/>
                  <a:pt x="373" y="11"/>
                </a:cubicBezTo>
                <a:cubicBezTo>
                  <a:pt x="371" y="7"/>
                  <a:pt x="367" y="4"/>
                  <a:pt x="363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9" y="0"/>
                </a:lnTo>
                <a:close/>
              </a:path>
            </a:pathLst>
          </a:custGeom>
          <a:solidFill>
            <a:srgbClr val="B07A4F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4495800" y="414337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2E9DC"/>
          </a:solidFill>
          <a:ln/>
        </p:spPr>
        <p:txBody>
          <a:bodyPr/>
          <a:p/>
        </p:txBody>
      </p:sp>
      <p:pic>
        <p:nvPicPr>
          <p:cNvPr id="1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591050" y="4238625"/>
            <a:ext cx="247650" cy="247650"/>
          </a:xfrm>
          <a:prstGeom prst="rect">
            <a:avLst/>
          </a:prstGeom>
          <a:ln/>
        </p:spPr>
      </p:pic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5067300" y="4238625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A211A"/>
                </a:solidFill>
                <a:latin typeface="Microsoft YaHei"/>
                <a:ea typeface="Microsoft YaHei"/>
              </a:rPr>
              <a:t>全栈能力验证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495800" y="4676775"/>
            <a:ext cx="31337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5A4F45"/>
                </a:solidFill>
                <a:latin typeface="Microsoft YaHei"/>
                <a:ea typeface="Microsoft YaHei"/>
              </a:rPr>
              <a:t xml:space="preserve">React + Tailwind / AntD5 </a:t>
            </a:r>
            <a:r>
              <a:rPr lang="zh-CN" sz="1200">
                <a:solidFill>
                  <a:srgbClr val="5A4F45"/>
                </a:solidFill>
                <a:latin typeface="Microsoft YaHei"/>
                <a:ea typeface="Microsoft YaHei"/>
              </a:rPr>
              <a:t>前端，</a:t>
            </a:r>
            <a:r>
              <a:rPr lang="en-US" sz="1200">
                <a:solidFill>
                  <a:srgbClr val="5A4F45"/>
                </a:solidFill>
                <a:latin typeface="Microsoft YaHei"/>
                <a:ea typeface="Microsoft YaHei"/>
              </a:rPr>
              <a:t xml:space="preserve">FastAPI + SQLite </a:t>
            </a:r>
            <a:r>
              <a:rPr lang="zh-CN" sz="1200">
                <a:solidFill>
                  <a:srgbClr val="5A4F45"/>
                </a:solidFill>
                <a:latin typeface="Microsoft YaHei"/>
                <a:ea typeface="Microsoft YaHei"/>
              </a:rPr>
              <a:t>后端，</a:t>
            </a:r>
            <a:r>
              <a:rPr lang="en-US" sz="1200">
                <a:solidFill>
                  <a:srgbClr val="5A4F45"/>
                </a:solidFill>
                <a:latin typeface="Microsoft YaHei"/>
                <a:ea typeface="Microsoft YaHei"/>
              </a:rPr>
              <a:t xml:space="preserve">RBAC </a:t>
            </a:r>
            <a:r>
              <a:rPr lang="zh-CN" sz="1200">
                <a:solidFill>
                  <a:srgbClr val="5A4F45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5A4F45"/>
                </a:solidFill>
                <a:latin typeface="Microsoft YaHei"/>
                <a:ea typeface="Microsoft YaHei"/>
              </a:rPr>
              <a:t xml:space="preserve"> JWT </a:t>
            </a:r>
            <a:r>
              <a:rPr lang="zh-CN" sz="1200">
                <a:solidFill>
                  <a:srgbClr val="5A4F45"/>
                </a:solidFill>
                <a:latin typeface="Microsoft YaHei"/>
                <a:ea typeface="Microsoft YaHei"/>
              </a:rPr>
              <a:t>鉴权落地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8029575" y="3952875"/>
            <a:ext cx="3552825" cy="2371725"/>
          </a:xfrm>
          <a:prstGeom prst="roundRect">
            <a:avLst>
              <a:gd name="adj" fmla="val 562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2A211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8029575" y="3952875"/>
            <a:ext cx="3552825" cy="2371725"/>
          </a:xfrm>
          <a:custGeom>
            <a:pathLst>
              <a:path w="373" h="249">
                <a:moveTo>
                  <a:pt x="360" y="0"/>
                </a:moveTo>
                <a:cubicBezTo>
                  <a:pt x="366" y="0"/>
                  <a:pt x="371" y="5"/>
                  <a:pt x="373" y="11"/>
                </a:cubicBezTo>
                <a:cubicBezTo>
                  <a:pt x="371" y="7"/>
                  <a:pt x="367" y="4"/>
                  <a:pt x="363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9" y="0"/>
                </a:lnTo>
                <a:close/>
              </a:path>
            </a:pathLst>
          </a:custGeom>
          <a:solidFill>
            <a:srgbClr val="B07A4F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8239125" y="414337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2E9DC"/>
          </a:solidFill>
          <a:ln/>
        </p:spPr>
        <p:txBody>
          <a:bodyPr/>
          <a:p/>
        </p:txBody>
      </p:sp>
      <p:pic>
        <p:nvPicPr>
          <p:cNvPr id="1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8334375" y="4238625"/>
            <a:ext cx="247650" cy="247650"/>
          </a:xfrm>
          <a:prstGeom prst="rect">
            <a:avLst/>
          </a:prstGeom>
          <a:ln/>
        </p:spPr>
      </p:pic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810625" y="4238625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A211A"/>
                </a:solidFill>
                <a:latin typeface="Microsoft YaHei"/>
                <a:ea typeface="Microsoft YaHei"/>
              </a:rPr>
              <a:t>可一键部署底座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239125" y="4676775"/>
            <a:ext cx="31337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A4F45"/>
                </a:solidFill>
                <a:latin typeface="Microsoft YaHei"/>
                <a:ea typeface="Microsoft YaHei"/>
              </a:rPr>
              <a:t>标准化启动脚本与</a:t>
            </a:r>
            <a:r>
              <a:rPr lang="en-US" sz="1200">
                <a:solidFill>
                  <a:srgbClr val="5A4F45"/>
                </a:solidFill>
                <a:latin typeface="Microsoft YaHei"/>
                <a:ea typeface="Microsoft YaHei"/>
              </a:rPr>
              <a:t xml:space="preserve"> Nginx </a:t>
            </a:r>
            <a:r>
              <a:rPr lang="zh-CN" sz="1200">
                <a:solidFill>
                  <a:srgbClr val="5A4F45"/>
                </a:solidFill>
                <a:latin typeface="Microsoft YaHei"/>
                <a:ea typeface="Microsoft YaHei"/>
              </a:rPr>
              <a:t>反代建议，</a:t>
            </a:r>
            <a:r>
              <a:rPr lang="en-US" sz="1200">
                <a:solidFill>
                  <a:srgbClr val="5A4F45"/>
                </a:solidFill>
                <a:latin typeface="Microsoft YaHei"/>
                <a:ea typeface="Microsoft YaHei"/>
              </a:rPr>
              <a:t xml:space="preserve">Swagger </a:t>
            </a:r>
            <a:r>
              <a:rPr lang="zh-CN" sz="1200">
                <a:solidFill>
                  <a:srgbClr val="5A4F45"/>
                </a:solidFill>
                <a:latin typeface="Microsoft YaHei"/>
                <a:ea typeface="Microsoft YaHei"/>
              </a:rPr>
              <a:t>自动文档，工程可复用到新项目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8B79"/>
                </a:solidFill>
                <a:latin typeface="Microsoft YaHei"/>
                <a:ea typeface="Microsoft YaHei"/>
              </a:rPr>
              <a:t>暖禾家具</a:t>
            </a:r>
            <a:r>
              <a:rPr lang="en-US" sz="1050">
                <a:solidFill>
                  <a:srgbClr val="9A8B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A8B79"/>
                </a:solidFill>
                <a:latin typeface="Microsoft YaHei"/>
                <a:ea typeface="Microsoft YaHei"/>
              </a:rPr>
              <a:t>项目成果展示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11252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8B79"/>
                </a:solidFill>
                <a:latin typeface="Microsoft YaHei"/>
                <a:ea typeface="Microsoft YaHei"/>
              </a:rPr>
              <a:t>04 / 08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33" name="" descr="&lt;Slide style={{ width: '1280px', height: '720px', background: '#FBF7F1', padding: '20px 64px' }}&gt;&#13;&#10;  &lt;Box style={{ flexDirection: 'row', alignItems: 'center', gap: 16, height: 100, borderBottom: '2px solid #E4D8C8' }}&gt;&#13;&#10;    &lt;Box style={{ width: 6, height: 48, background: '#B07A4F', borderRadius: 3 }} /&gt;&#13;&#10;    &lt;Box&gt;&#13;&#10;      &lt;Text style={{ fontSize: 34, fontWeight: 'bold', color: '#2A211A' }}&gt;c）WordBuddy 需求处理截图&lt;/Text&gt;&#13;&#10;      &lt;Text style={{ fontSize: 18, color: '#8A7B6B', marginTop: 4 }}&gt;需求沟通 / 任务拆解 / 代码生成（请在此粘贴截图）&lt;/Text&gt;&#13;&#10;    &lt;/Box&gt;&#13;&#10;    &lt;Text style={{ marginLeft: 'auto', fontSize: 16, color: '#B0A18F', letterSpacing: 2 }}&gt;PROCESS&lt;/Text&gt;&#13;&#10;  &lt;/Box&gt;&#13;&#10;&#13;&#10;  &lt;Box style={{ flexDirection: 'row', gap: 32, marginTop: 28, height: 472, justifyContent: 'center' }}&gt;&#13;&#10;    {[&#13;&#10;      { tag: '截图 1', hint: '在此粘贴：与 WordBuddy 的需求沟通 / 任务拆解对话截图', sub: '建议展示需求澄清、方案拆分等关键节点' },&#13;&#10;      { tag: '截图 2', hint: '在此粘贴：WordBuddy 代码生成 / 工程脚手架落地截图', sub: '建议展示核心模块或接口自动生成结果' },&#13;&#10;    ].map((it, i) =&gt; (&#13;&#10;      &lt;Box key={i} style={{ flex: 1, borderRadius: 16, border: '3px dashed #B07A4F', background: 'rgba(176,122,79,0.06)', padding: 28, flexDirection: 'column', alignItems: 'center', justifyContent: 'center', gap: 16 }}&gt;&#13;&#10;        &lt;Box style={{ width: 70, height: 70, borderRadius: 18, background: '#FFFFFF', border: '2px dashed #B07A4F', justifyContent: 'center', alignItems: 'center' }}&gt;&#13;&#10;          &lt;FAIcon name='image' style={{ fill: '#B07A4F', width: 34, height: 34 }} /&gt;&#13;&#10;        &lt;/Box&gt;&#13;&#10;        &lt;Text style={{ fontSize: 22, fontWeight: 'bold', color: '#2A211A' }}&gt;{it.tag}&lt;/Text&gt;&#13;&#10;        &lt;Text style={{ fontSize: 17, color: '#5A4F45', textAlign: 'center', lineHeight: 1.6 }}&gt;{it.hint}&lt;/Text&gt;&#13;&#10;        &lt;Text style={{ fontSize: 15, color: '#9A8B79', textAlign: 'center', lineHeight: 1.5 }}&gt;{it.sub}&lt;/Text&gt;&#13;&#10;      &lt;/Box&gt;&#13;&#10;    ))}&#13;&#10;  &lt;/Box&gt;&#13;&#10;&#13;&#10;  &lt;Box style={{ position: 'absolute', bottom: 20, left: 64, right: 64, flexDirection: 'row', justifyContent: 'space-between' }}&gt;&#13;&#10;    &lt;Text style={{ fontSize: 14, color: '#9A8B79' }}&gt;暖禾家具 · 项目成果展示&lt;/Text&gt;&#13;&#10;    &lt;Text style={{ fontSize: 14, color: '#9A8B79' }}&gt;05 / 08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7F1"/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8"/>
                </a:moveTo>
                <a:lnTo>
                  <a:pt x="1152" y="98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E4D8C8"/>
          </a:solidFill>
          <a:ln/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609600" y="428625"/>
            <a:ext cx="57150" cy="457200"/>
          </a:xfrm>
          <a:prstGeom prst="roundRect">
            <a:avLst>
              <a:gd name="adj" fmla="val 50000"/>
            </a:avLst>
          </a:prstGeom>
          <a:solidFill>
            <a:srgbClr val="B07A4F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19150" y="342900"/>
            <a:ext cx="44862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A211A"/>
                </a:solidFill>
                <a:latin typeface="Microsoft YaHei"/>
                <a:ea typeface="Microsoft YaHei"/>
              </a:rPr>
              <a:t>c</a:t>
            </a:r>
            <a:r>
              <a:rPr lang="zh-CN" sz="2550" b="1">
                <a:solidFill>
                  <a:srgbClr val="2A211A"/>
                </a:solidFill>
                <a:latin typeface="Microsoft YaHei"/>
                <a:ea typeface="Microsoft YaHei"/>
              </a:rPr>
              <a:t>）</a:t>
            </a:r>
            <a:r>
              <a:rPr lang="en-US" sz="2550" b="1">
                <a:solidFill>
                  <a:srgbClr val="2A211A"/>
                </a:solidFill>
                <a:latin typeface="Microsoft YaHei"/>
                <a:ea typeface="Microsoft YaHei"/>
              </a:rPr>
              <a:t xml:space="preserve">WordBuddy </a:t>
            </a:r>
            <a:r>
              <a:rPr lang="zh-CN" sz="2550" b="1">
                <a:solidFill>
                  <a:srgbClr val="2A211A"/>
                </a:solidFill>
                <a:latin typeface="Microsoft YaHei"/>
                <a:ea typeface="Microsoft YaHei"/>
              </a:rPr>
              <a:t>需求处理截图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19150" y="771525"/>
            <a:ext cx="44862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A7B6B"/>
                </a:solidFill>
                <a:latin typeface="Microsoft YaHei"/>
                <a:ea typeface="Microsoft YaHei"/>
              </a:rPr>
              <a:t>需求沟通</a:t>
            </a:r>
            <a:r>
              <a:rPr lang="en-US" sz="1350">
                <a:solidFill>
                  <a:srgbClr val="8A7B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8A7B6B"/>
                </a:solidFill>
                <a:latin typeface="Microsoft YaHei"/>
                <a:ea typeface="Microsoft YaHei"/>
              </a:rPr>
              <a:t>任务拆解</a:t>
            </a:r>
            <a:r>
              <a:rPr lang="en-US" sz="1350">
                <a:solidFill>
                  <a:srgbClr val="8A7B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8A7B6B"/>
                </a:solidFill>
                <a:latin typeface="Microsoft YaHei"/>
                <a:ea typeface="Microsoft YaHei"/>
              </a:rPr>
              <a:t>代码生成（请在此粘贴截图）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0763250" y="561975"/>
            <a:ext cx="819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B0A18F"/>
                </a:solidFill>
                <a:latin typeface="Microsoft YaHei"/>
                <a:ea typeface="Microsoft YaHei"/>
              </a:rPr>
              <a:t>PROCESS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609600" y="1409700"/>
            <a:ext cx="5334000" cy="4495800"/>
          </a:xfrm>
          <a:prstGeom prst="roundRect">
            <a:avLst>
              <a:gd name="adj" fmla="val 3390"/>
            </a:avLst>
          </a:prstGeom>
          <a:solidFill>
            <a:srgbClr val="B07A4F">
              <a:alpha val="6000"/>
            </a:srgbClr>
          </a:solidFill>
          <a:ln w="38100">
            <a:solidFill>
              <a:srgbClr val="B07A4F"/>
            </a:solidFill>
            <a:prstDash val="dash"/>
          </a:ln>
        </p:spPr>
        <p:txBody>
          <a:bodyPr/>
          <a:p/>
        </p:txBody>
      </p:sp>
      <p:sp>
        <p:nvSpPr>
          <p:cNvPr id="141" name=""/>
          <p:cNvSpPr/>
          <p:nvPr/>
        </p:nvSpPr>
        <p:spPr>
          <a:xfrm rot="0" flipH="0" flipV="0">
            <a:off x="2943225" y="2686050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25400">
            <a:solidFill>
              <a:srgbClr val="B07A4F"/>
            </a:solidFill>
            <a:prstDash val="dash"/>
          </a:ln>
        </p:spPr>
        <p:txBody>
          <a:bodyPr/>
          <a:p/>
        </p:txBody>
      </p:sp>
      <p:pic>
        <p:nvPicPr>
          <p:cNvPr id="1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114675" y="2857500"/>
            <a:ext cx="323850" cy="323850"/>
          </a:xfrm>
          <a:prstGeom prst="rect">
            <a:avLst/>
          </a:prstGeom>
          <a:ln/>
        </p:spPr>
      </p:pic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2971800" y="3505200"/>
            <a:ext cx="619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A211A"/>
                </a:solidFill>
                <a:latin typeface="Microsoft YaHei"/>
                <a:ea typeface="Microsoft YaHei"/>
              </a:rPr>
              <a:t>截图</a:t>
            </a:r>
            <a:r>
              <a:rPr lang="en-US" sz="1650" b="1">
                <a:solidFill>
                  <a:srgbClr val="2A211A"/>
                </a:solidFill>
                <a:latin typeface="Microsoft YaHei"/>
                <a:ea typeface="Microsoft YaHei"/>
              </a:rPr>
              <a:t xml:space="preserve"> 1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143000" y="3914775"/>
            <a:ext cx="4267200" cy="3143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275">
                <a:solidFill>
                  <a:srgbClr val="5A4F45"/>
                </a:solidFill>
                <a:latin typeface="Microsoft YaHei"/>
                <a:ea typeface="Microsoft YaHei"/>
              </a:rPr>
              <a:t>在此粘贴：与</a:t>
            </a:r>
            <a:r>
              <a:rPr lang="en-US" sz="1275">
                <a:solidFill>
                  <a:srgbClr val="5A4F45"/>
                </a:solidFill>
                <a:latin typeface="Microsoft YaHei"/>
                <a:ea typeface="Microsoft YaHei"/>
              </a:rPr>
              <a:t xml:space="preserve"> WordBuddy </a:t>
            </a:r>
            <a:r>
              <a:rPr lang="zh-CN" sz="1275">
                <a:solidFill>
                  <a:srgbClr val="5A4F45"/>
                </a:solidFill>
                <a:latin typeface="Microsoft YaHei"/>
                <a:ea typeface="Microsoft YaHei"/>
              </a:rPr>
              <a:t>的需求沟通</a:t>
            </a:r>
            <a:r>
              <a:rPr lang="en-US" sz="1275">
                <a:solidFill>
                  <a:srgbClr val="5A4F45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5A4F45"/>
                </a:solidFill>
                <a:latin typeface="Microsoft YaHei"/>
                <a:ea typeface="Microsoft YaHei"/>
              </a:rPr>
              <a:t>任务拆解对话截图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990725" y="4381500"/>
            <a:ext cx="257175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125">
                <a:solidFill>
                  <a:srgbClr val="9A8B79"/>
                </a:solidFill>
                <a:latin typeface="Microsoft YaHei"/>
                <a:ea typeface="Microsoft YaHei"/>
              </a:rPr>
              <a:t>建议展示需求澄清、方案拆分等关键节点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248400" y="1409700"/>
            <a:ext cx="5334000" cy="4495800"/>
          </a:xfrm>
          <a:prstGeom prst="roundRect">
            <a:avLst>
              <a:gd name="adj" fmla="val 3390"/>
            </a:avLst>
          </a:prstGeom>
          <a:solidFill>
            <a:srgbClr val="B07A4F">
              <a:alpha val="6000"/>
            </a:srgbClr>
          </a:solidFill>
          <a:ln w="38100">
            <a:solidFill>
              <a:srgbClr val="B07A4F"/>
            </a:solidFill>
            <a:prstDash val="dash"/>
          </a:ln>
        </p:spPr>
        <p:txBody>
          <a:bodyPr/>
          <a:p/>
        </p:txBody>
      </p:sp>
      <p:sp>
        <p:nvSpPr>
          <p:cNvPr id="147" name=""/>
          <p:cNvSpPr/>
          <p:nvPr/>
        </p:nvSpPr>
        <p:spPr>
          <a:xfrm rot="0" flipH="0" flipV="0">
            <a:off x="8582025" y="2686050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25400">
            <a:solidFill>
              <a:srgbClr val="B07A4F"/>
            </a:solidFill>
            <a:prstDash val="dash"/>
          </a:ln>
        </p:spPr>
        <p:txBody>
          <a:bodyPr/>
          <a:p/>
        </p:txBody>
      </p:sp>
      <p:pic>
        <p:nvPicPr>
          <p:cNvPr id="1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53475" y="2857500"/>
            <a:ext cx="323850" cy="323850"/>
          </a:xfrm>
          <a:prstGeom prst="rect">
            <a:avLst/>
          </a:prstGeom>
          <a:ln/>
        </p:spPr>
      </p:pic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610600" y="3505200"/>
            <a:ext cx="619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A211A"/>
                </a:solidFill>
                <a:latin typeface="Microsoft YaHei"/>
                <a:ea typeface="Microsoft YaHei"/>
              </a:rPr>
              <a:t>截图</a:t>
            </a:r>
            <a:r>
              <a:rPr lang="en-US" sz="1650" b="1">
                <a:solidFill>
                  <a:srgbClr val="2A211A"/>
                </a:solidFill>
                <a:latin typeface="Microsoft YaHei"/>
                <a:ea typeface="Microsoft YaHei"/>
              </a:rPr>
              <a:t xml:space="preserve"> 2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886575" y="3914775"/>
            <a:ext cx="4057650" cy="3143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275">
                <a:solidFill>
                  <a:srgbClr val="5A4F45"/>
                </a:solidFill>
                <a:latin typeface="Microsoft YaHei"/>
                <a:ea typeface="Microsoft YaHei"/>
              </a:rPr>
              <a:t>在此粘贴：</a:t>
            </a:r>
            <a:r>
              <a:rPr lang="en-US" sz="1275">
                <a:solidFill>
                  <a:srgbClr val="5A4F45"/>
                </a:solidFill>
                <a:latin typeface="Microsoft YaHei"/>
                <a:ea typeface="Microsoft YaHei"/>
              </a:rPr>
              <a:t xml:space="preserve">WordBuddy </a:t>
            </a:r>
            <a:r>
              <a:rPr lang="zh-CN" sz="1275">
                <a:solidFill>
                  <a:srgbClr val="5A4F45"/>
                </a:solidFill>
                <a:latin typeface="Microsoft YaHei"/>
                <a:ea typeface="Microsoft YaHei"/>
              </a:rPr>
              <a:t>代码生成</a:t>
            </a:r>
            <a:r>
              <a:rPr lang="en-US" sz="1275">
                <a:solidFill>
                  <a:srgbClr val="5A4F45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5A4F45"/>
                </a:solidFill>
                <a:latin typeface="Microsoft YaHei"/>
                <a:ea typeface="Microsoft YaHei"/>
              </a:rPr>
              <a:t>工程脚手架落地截图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705725" y="4381500"/>
            <a:ext cx="2428875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125">
                <a:solidFill>
                  <a:srgbClr val="9A8B79"/>
                </a:solidFill>
                <a:latin typeface="Microsoft YaHei"/>
                <a:ea typeface="Microsoft YaHei"/>
              </a:rPr>
              <a:t>建议展示核心模块或接口自动生成结果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8B79"/>
                </a:solidFill>
                <a:latin typeface="Microsoft YaHei"/>
                <a:ea typeface="Microsoft YaHei"/>
              </a:rPr>
              <a:t>暖禾家具</a:t>
            </a:r>
            <a:r>
              <a:rPr lang="en-US" sz="1050">
                <a:solidFill>
                  <a:srgbClr val="9A8B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A8B79"/>
                </a:solidFill>
                <a:latin typeface="Microsoft YaHei"/>
                <a:ea typeface="Microsoft YaHei"/>
              </a:rPr>
              <a:t>项目成果展示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11252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8B79"/>
                </a:solidFill>
                <a:latin typeface="Microsoft YaHei"/>
                <a:ea typeface="Microsoft YaHei"/>
              </a:rPr>
              <a:t>05 / 08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4" name="" descr="&lt;Slide style={{ width: '1280px', height: '720px', background: '#FBF7F1', padding: '20px 64px' }}&gt;&#13;&#10;  &lt;Box style={{ flexDirection: 'row', alignItems: 'center', gap: 16, height: 100, borderBottom: '2px solid #E4D8C8' }}&gt;&#13;&#10;    &lt;Box style={{ width: 6, height: 48, background: '#B07A4F', borderRadius: 3 }} /&gt;&#13;&#10;    &lt;Box&gt;&#13;&#10;      &lt;Text style={{ fontSize: 34, fontWeight: 'bold', color: '#2A211A' }}&gt;d）项目效果截图&lt;/Text&gt;&#13;&#10;      &lt;Text style={{ fontSize: 18, color: '#8A7B6B', marginTop: 4 }}&gt;前台官网 / 后台工作台 / 后台内容管理（实机运行截图）&lt;/Text&gt;&#13;&#10;    &lt;/Box&gt;&#13;&#10;    &lt;Text style={{ marginLeft: 'auto', fontSize: 16, color: '#B0A18F', letterSpacing: 2 }}&gt;RESULTS&lt;/Text&gt;&#13;&#10;  &lt;/Box&gt;&#13;&#10;&#13;&#10;  &lt;Box style={{ flexDirection: 'row', gap: 22, marginTop: 24, height: 326 }}&gt;&#13;&#10;    {[&#13;&#10;      { img: 'assets/result_front_home.png', url: '127.0.0.1:5173', tag: '前台', title: '官网首页', sub: '品牌主视觉 · 数据成绩 · 产品与新闻入口' },&#13;&#10;      { img: 'assets/result_admin_dashboard.png', url: '127.0.0.1:5174', tag: '后台', title: '数据工作台', sub: '内容总览与待处理留言一目了然' },&#13;&#10;      { img: 'assets/result_admin_products.png', url: '127.0.0.1:5174', tag: '后台', title: '内容管理', sub: '产品 / 新闻 / 案例全流程增删改查' },&#13;&#10;    ].map((it, i) =&gt; (&#13;&#10;      &lt;Box key={i} style={{ flex: 1, background: '#FFFFFF', borderRadius: 14, border: '1px solid #E4D8C8', overflow: 'hidden', boxShadow: '0 4px 16px rgba(42,33,26,0.07)', flexDirection: 'column' }}&gt;&#13;&#10;        &lt;Box style={{ height: 30, background: '#F2ECE4', flexDirection: 'row', alignItems: 'center', gap: 6, padding: '0 12px' }}&gt;&#13;&#10;          &lt;Box style={{ width: 8, height: 8, borderRadius: 4, background: '#E06C5A' }} /&gt;&#13;&#10;          &lt;Box style={{ width: 8, height: 8, borderRadius: 4, background: '#E8B84B' }} /&gt;&#13;&#10;          &lt;Box style={{ width: 8, height: 8, borderRadius: 4, background: '#7FB069' }} /&gt;&#13;&#10;          &lt;Box style={{ flex: 1, height: 16, borderRadius: 8, background: '#FFFFFF', justifyContent: 'center', padding: '0 10px', marginLeft: 6 }}&gt;&#13;&#10;            &lt;Text style={{ fontSize: 10, color: '#9A8B79' }}&gt;{it.url}&lt;/Text&gt;&#13;&#10;          &lt;/Box&gt;&#13;&#10;        &lt;/Box&gt;&#13;&#10;        &lt;Image src={it.img} style={{ width: '100%', height: 226, objectFit: 'cover' }} /&gt;&#13;&#10;        &lt;Box style={{ padding: '12px 15px', flexDirection: 'column', gap: 3 }}&gt;&#13;&#10;          &lt;Box style={{ flexDirection: 'row', alignItems: 'center', gap: 8 }}&gt;&#13;&#10;            &lt;Box style={{ padding: '1px 8px', borderRadius: 5, background: '#B07A4F' }}&gt;&#13;&#10;              &lt;Text style={{ fontSize: 12, color: '#FFFFFF', fontWeight: 'bold' }}&gt;{it.tag}&lt;/Text&gt;&#13;&#10;            &lt;/Box&gt;&#13;&#10;            &lt;Text style={{ fontSize: 17, fontWeight: 'bold', color: '#2A211A' }}&gt;{it.title}&lt;/Text&gt;&#13;&#10;          &lt;/Box&gt;&#13;&#10;          &lt;Text style={{ fontSize: 13, color: '#8A7B6B', lineHeight: 1.35 }}&gt;{it.sub}&lt;/Text&gt;&#13;&#10;        &lt;/Box&gt;&#13;&#10;      &lt;/Box&gt;&#13;&#10;    ))}&#13;&#10;  &lt;/Box&gt;&#13;&#10;&#13;&#10;  &lt;Box style={{ flexDirection: 'row', gap: 20, marginTop: 22, height: 158, background: '#FFFFFF', borderRadius: 14, border: '1px solid #E4D8C8', padding: '20px 28px' }}&gt;&#13;&#10;    {[&#13;&#10;      { icon: 'check-circle', t: '三端贯通', d: '前台、后台、API 同源同库，改一处三端同步' },&#13;&#10;      { icon: 'cog', t: '全站可管', d: '11 个后台模块覆盖轮播、产品、案例到留言' },&#13;&#10;      { icon: 'users', t: '多角色权限', d: '管理员 / 编辑 / 运营三级角色，双重鉴权' },&#13;&#10;    ].map((it, i) =&gt; (&#13;&#10;      &lt;Box key={i} style={{ flex: 1, flexDirection: 'row', gap: 14, alignItems: 'flex-start' }}&gt;&#13;&#10;        &lt;Box style={{ width: 42, height: 42, borderRadius: 12, background: 'rgba(176,122,79,0.12)', justifyContent: 'center', alignItems: 'center', flexShrink: 0 }}&gt;&#13;&#10;          &lt;FAIcon name={it.icon} style={{ fill: '#B07A4F', width: 22, height: 22 }} /&gt;&#13;&#10;        &lt;/Box&gt;&#13;&#10;        &lt;Box style={{ flexDirection: 'column' }}&gt;&#13;&#10;          &lt;Text style={{ fontSize: 16, fontWeight: 'bold', color: '#2A211A' }}&gt;{it.t}&lt;/Text&gt;&#13;&#10;          &lt;Text style={{ fontSize: 12.5, color: '#8A7B6B', lineHeight: 1.5, marginTop: 4 }}&gt;{it.d}&lt;/Text&gt;&#13;&#10;        &lt;/Box&gt;&#13;&#10;      &lt;/Box&gt;&#13;&#10;    ))}&#13;&#10;  &lt;/Box&gt;&#13;&#10;&#13;&#10;  &lt;Box style={{ position: 'absolute', bottom: 20, left: 64, right: 64, flexDirection: 'row', justifyContent: 'space-between' }}&gt;&#13;&#10;    &lt;Text style={{ fontSize: 14, color: '#9A8B79' }}&gt;暖禾家具 · 项目成果展示&lt;/Text&gt;&#13;&#10;    &lt;Text style={{ fontSize: 14, color: '#9A8B79' }}&gt;06 / 08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7F1"/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8"/>
                </a:moveTo>
                <a:lnTo>
                  <a:pt x="1152" y="98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E4D8C8"/>
          </a:solidFill>
          <a:ln/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609600" y="428625"/>
            <a:ext cx="57150" cy="457200"/>
          </a:xfrm>
          <a:prstGeom prst="roundRect">
            <a:avLst>
              <a:gd name="adj" fmla="val 50000"/>
            </a:avLst>
          </a:prstGeom>
          <a:solidFill>
            <a:srgbClr val="B07A4F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819150" y="342900"/>
            <a:ext cx="42957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A211A"/>
                </a:solidFill>
                <a:latin typeface="Microsoft YaHei"/>
                <a:ea typeface="Microsoft YaHei"/>
              </a:rPr>
              <a:t>d</a:t>
            </a:r>
            <a:r>
              <a:rPr lang="zh-CN" sz="2550" b="1">
                <a:solidFill>
                  <a:srgbClr val="2A211A"/>
                </a:solidFill>
                <a:latin typeface="Microsoft YaHei"/>
                <a:ea typeface="Microsoft YaHei"/>
              </a:rPr>
              <a:t>）项目效果截图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19150" y="771525"/>
            <a:ext cx="4295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A7B6B"/>
                </a:solidFill>
                <a:latin typeface="Microsoft YaHei"/>
                <a:ea typeface="Microsoft YaHei"/>
              </a:rPr>
              <a:t>前台官网</a:t>
            </a:r>
            <a:r>
              <a:rPr lang="en-US" sz="1350">
                <a:solidFill>
                  <a:srgbClr val="8A7B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8A7B6B"/>
                </a:solidFill>
                <a:latin typeface="Microsoft YaHei"/>
                <a:ea typeface="Microsoft YaHei"/>
              </a:rPr>
              <a:t>后台工作台</a:t>
            </a:r>
            <a:r>
              <a:rPr lang="en-US" sz="1350">
                <a:solidFill>
                  <a:srgbClr val="8A7B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8A7B6B"/>
                </a:solidFill>
                <a:latin typeface="Microsoft YaHei"/>
                <a:ea typeface="Microsoft YaHei"/>
              </a:rPr>
              <a:t>后台内容管理（实机运行截图）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0801350" y="561975"/>
            <a:ext cx="781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B0A18F"/>
                </a:solidFill>
                <a:latin typeface="Microsoft YaHei"/>
                <a:ea typeface="Microsoft YaHei"/>
              </a:rPr>
              <a:t>RESULTS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09600" y="1371600"/>
            <a:ext cx="3514725" cy="3105150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blurRad="152400" dist="38100" dir="5400000">
              <a:srgbClr val="2A211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609600" y="1371600"/>
            <a:ext cx="3514725" cy="285750"/>
          </a:xfrm>
          <a:custGeom>
            <a:pathLst>
              <a:path w="369" h="30">
                <a:moveTo>
                  <a:pt x="355" y="0"/>
                </a:moveTo>
                <a:cubicBezTo>
                  <a:pt x="363" y="0"/>
                  <a:pt x="369" y="6"/>
                  <a:pt x="369" y="14"/>
                </a:cubicBezTo>
                <a:lnTo>
                  <a:pt x="369" y="30"/>
                </a:lnTo>
                <a:lnTo>
                  <a:pt x="0" y="30"/>
                </a:ln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355" y="0"/>
                </a:lnTo>
                <a:close/>
              </a:path>
            </a:pathLst>
          </a:custGeom>
          <a:solidFill>
            <a:srgbClr val="F2ECE4"/>
          </a:solidFill>
          <a:ln/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723900" y="1476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E06C5A"/>
          </a:soli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857250" y="1476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990600" y="1476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7FB069"/>
          </a:solidFill>
          <a:ln/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1181100" y="1438275"/>
            <a:ext cx="2828925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276350" y="1457325"/>
            <a:ext cx="26384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9A8B79"/>
                </a:solidFill>
                <a:latin typeface="Microsoft YaHei"/>
                <a:ea typeface="Microsoft YaHei"/>
              </a:rPr>
              <a:t>127.0.0.1:5173</a:t>
            </a:r>
            <a:endParaRPr/>
          </a:p>
        </p:txBody>
      </p:sp>
      <p:pic>
        <p:nvPicPr>
          <p:cNvPr id="168" name=""/>
          <p:cNvPicPr>
            <a:picLocks noChangeAspect="1"/>
          </p:cNvPicPr>
          <p:nvPr/>
        </p:nvPicPr>
        <p:blipFill>
          <a:blip r:embed="rId1"/>
          <a:srcRect l="0" t="1002" r="0" b="1002"/>
          <a:stretch>
            <a:fillRect/>
          </a:stretch>
        </p:blipFill>
        <p:spPr>
          <a:xfrm rot="0" flipH="0" flipV="0">
            <a:off x="609600" y="1657350"/>
            <a:ext cx="3514725" cy="2152650"/>
          </a:xfrm>
          <a:prstGeom prst="rect">
            <a:avLst/>
          </a:prstGeom>
          <a:ln/>
        </p:spPr>
      </p:pic>
      <p:sp>
        <p:nvSpPr>
          <p:cNvPr id="169" name=""/>
          <p:cNvSpPr/>
          <p:nvPr/>
        </p:nvSpPr>
        <p:spPr>
          <a:xfrm rot="0" flipH="0" flipV="0">
            <a:off x="752475" y="3943350"/>
            <a:ext cx="381000" cy="161925"/>
          </a:xfrm>
          <a:prstGeom prst="roundRect">
            <a:avLst>
              <a:gd name="adj" fmla="val 29412"/>
            </a:avLst>
          </a:prstGeom>
          <a:solidFill>
            <a:srgbClr val="B07A4F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28675" y="39528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前台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209675" y="39243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A211A"/>
                </a:solidFill>
                <a:latin typeface="Microsoft YaHei"/>
                <a:ea typeface="Microsoft YaHei"/>
              </a:rPr>
              <a:t>官网首页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752475" y="4152900"/>
            <a:ext cx="32289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8A7B6B"/>
                </a:solidFill>
                <a:latin typeface="Microsoft YaHei"/>
                <a:ea typeface="Microsoft YaHei"/>
              </a:rPr>
              <a:t>品牌主视觉</a:t>
            </a:r>
            <a:r>
              <a:rPr lang="en-US" sz="975">
                <a:solidFill>
                  <a:srgbClr val="8A7B6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7B6B"/>
                </a:solidFill>
                <a:latin typeface="Microsoft YaHei"/>
                <a:ea typeface="Microsoft YaHei"/>
              </a:rPr>
              <a:t>数据成绩</a:t>
            </a:r>
            <a:r>
              <a:rPr lang="en-US" sz="975">
                <a:solidFill>
                  <a:srgbClr val="8A7B6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7B6B"/>
                </a:solidFill>
                <a:latin typeface="Microsoft YaHei"/>
                <a:ea typeface="Microsoft YaHei"/>
              </a:rPr>
              <a:t>产品与新闻入口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4333875" y="1371600"/>
            <a:ext cx="3524250" cy="3105150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blurRad="152400" dist="38100" dir="5400000">
              <a:srgbClr val="2A211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74" name=""/>
          <p:cNvSpPr/>
          <p:nvPr/>
        </p:nvSpPr>
        <p:spPr>
          <a:xfrm rot="0" flipH="0" flipV="0">
            <a:off x="4333875" y="1371600"/>
            <a:ext cx="3524250" cy="285750"/>
          </a:xfrm>
          <a:custGeom>
            <a:pathLst>
              <a:path w="370" h="30">
                <a:moveTo>
                  <a:pt x="356" y="0"/>
                </a:moveTo>
                <a:cubicBezTo>
                  <a:pt x="364" y="0"/>
                  <a:pt x="370" y="6"/>
                  <a:pt x="370" y="14"/>
                </a:cubicBezTo>
                <a:lnTo>
                  <a:pt x="370" y="30"/>
                </a:lnTo>
                <a:lnTo>
                  <a:pt x="0" y="30"/>
                </a:ln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356" y="0"/>
                </a:lnTo>
                <a:close/>
              </a:path>
            </a:pathLst>
          </a:custGeom>
          <a:solidFill>
            <a:srgbClr val="F2ECE4"/>
          </a:solidFill>
          <a:ln/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4448175" y="1476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E06C5A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4581525" y="1476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/>
        </p:spPr>
        <p:txBody>
          <a:bodyPr/>
          <a:p/>
        </p:txBody>
      </p:sp>
      <p:sp>
        <p:nvSpPr>
          <p:cNvPr id="177" name=""/>
          <p:cNvSpPr/>
          <p:nvPr/>
        </p:nvSpPr>
        <p:spPr>
          <a:xfrm rot="0" flipH="0" flipV="0">
            <a:off x="4714875" y="1476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7FB069"/>
          </a:solidFill>
          <a:ln/>
        </p:spPr>
        <p:txBody>
          <a:bodyPr/>
          <a:p/>
        </p:txBody>
      </p:sp>
      <p:sp>
        <p:nvSpPr>
          <p:cNvPr id="178" name=""/>
          <p:cNvSpPr/>
          <p:nvPr/>
        </p:nvSpPr>
        <p:spPr>
          <a:xfrm rot="0" flipH="0" flipV="0">
            <a:off x="4905375" y="1438275"/>
            <a:ext cx="283845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5000625" y="1457325"/>
            <a:ext cx="26479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9A8B79"/>
                </a:solidFill>
                <a:latin typeface="Microsoft YaHei"/>
                <a:ea typeface="Microsoft YaHei"/>
              </a:rPr>
              <a:t>127.0.0.1:5174</a:t>
            </a:r>
            <a:endParaRPr/>
          </a:p>
        </p:txBody>
      </p:sp>
      <p:pic>
        <p:nvPicPr>
          <p:cNvPr id="180" name=""/>
          <p:cNvPicPr>
            <a:picLocks noChangeAspect="1"/>
          </p:cNvPicPr>
          <p:nvPr/>
        </p:nvPicPr>
        <p:blipFill>
          <a:blip r:embed="rId2"/>
          <a:srcRect l="0" t="1135" r="0" b="1135"/>
          <a:stretch>
            <a:fillRect/>
          </a:stretch>
        </p:blipFill>
        <p:spPr>
          <a:xfrm rot="0" flipH="0" flipV="0">
            <a:off x="4333875" y="1657350"/>
            <a:ext cx="3524250" cy="2152650"/>
          </a:xfrm>
          <a:prstGeom prst="rect">
            <a:avLst/>
          </a:prstGeom>
          <a:ln/>
        </p:spPr>
      </p:pic>
      <p:sp>
        <p:nvSpPr>
          <p:cNvPr id="181" name=""/>
          <p:cNvSpPr/>
          <p:nvPr/>
        </p:nvSpPr>
        <p:spPr>
          <a:xfrm rot="0" flipH="0" flipV="0">
            <a:off x="4476750" y="3943350"/>
            <a:ext cx="381000" cy="161925"/>
          </a:xfrm>
          <a:prstGeom prst="roundRect">
            <a:avLst>
              <a:gd name="adj" fmla="val 29412"/>
            </a:avLst>
          </a:prstGeom>
          <a:solidFill>
            <a:srgbClr val="B07A4F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552950" y="39528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后台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933950" y="3924300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A211A"/>
                </a:solidFill>
                <a:latin typeface="Microsoft YaHei"/>
                <a:ea typeface="Microsoft YaHei"/>
              </a:rPr>
              <a:t>数据工作台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476750" y="4152900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8A7B6B"/>
                </a:solidFill>
                <a:latin typeface="Microsoft YaHei"/>
                <a:ea typeface="Microsoft YaHei"/>
              </a:rPr>
              <a:t>内容总览与待处理留言一目了然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8067675" y="1371600"/>
            <a:ext cx="3514725" cy="3105150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blurRad="152400" dist="38100" dir="5400000">
              <a:srgbClr val="2A211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8067675" y="1371600"/>
            <a:ext cx="3514725" cy="285750"/>
          </a:xfrm>
          <a:custGeom>
            <a:pathLst>
              <a:path w="369" h="30">
                <a:moveTo>
                  <a:pt x="355" y="0"/>
                </a:moveTo>
                <a:cubicBezTo>
                  <a:pt x="363" y="0"/>
                  <a:pt x="369" y="6"/>
                  <a:pt x="369" y="14"/>
                </a:cubicBezTo>
                <a:lnTo>
                  <a:pt x="369" y="30"/>
                </a:lnTo>
                <a:lnTo>
                  <a:pt x="0" y="30"/>
                </a:ln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355" y="0"/>
                </a:lnTo>
                <a:close/>
              </a:path>
            </a:pathLst>
          </a:custGeom>
          <a:solidFill>
            <a:srgbClr val="F2ECE4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8181975" y="1476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E06C5A"/>
          </a:solidFill>
          <a:ln/>
        </p:spPr>
        <p:txBody>
          <a:bodyPr/>
          <a:p/>
        </p:txBody>
      </p:sp>
      <p:sp>
        <p:nvSpPr>
          <p:cNvPr id="188" name=""/>
          <p:cNvSpPr/>
          <p:nvPr/>
        </p:nvSpPr>
        <p:spPr>
          <a:xfrm rot="0" flipH="0" flipV="0">
            <a:off x="8315325" y="1476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8448675" y="1476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7FB069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8639175" y="1438275"/>
            <a:ext cx="2828925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734425" y="1457325"/>
            <a:ext cx="26384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9A8B79"/>
                </a:solidFill>
                <a:latin typeface="Microsoft YaHei"/>
                <a:ea typeface="Microsoft YaHei"/>
              </a:rPr>
              <a:t>127.0.0.1:5174</a:t>
            </a:r>
            <a:endParaRPr/>
          </a:p>
        </p:txBody>
      </p:sp>
      <p:pic>
        <p:nvPicPr>
          <p:cNvPr id="192" name=""/>
          <p:cNvPicPr>
            <a:picLocks noChangeAspect="1"/>
          </p:cNvPicPr>
          <p:nvPr/>
        </p:nvPicPr>
        <p:blipFill>
          <a:blip r:embed="rId3"/>
          <a:srcRect l="0" t="1002" r="0" b="1002"/>
          <a:stretch>
            <a:fillRect/>
          </a:stretch>
        </p:blipFill>
        <p:spPr>
          <a:xfrm rot="0" flipH="0" flipV="0">
            <a:off x="8067675" y="1657350"/>
            <a:ext cx="3514725" cy="2152650"/>
          </a:xfrm>
          <a:prstGeom prst="rect">
            <a:avLst/>
          </a:prstGeom>
          <a:ln/>
        </p:spPr>
      </p:pic>
      <p:sp>
        <p:nvSpPr>
          <p:cNvPr id="193" name=""/>
          <p:cNvSpPr/>
          <p:nvPr/>
        </p:nvSpPr>
        <p:spPr>
          <a:xfrm rot="0" flipH="0" flipV="0">
            <a:off x="8210550" y="3943350"/>
            <a:ext cx="381000" cy="161925"/>
          </a:xfrm>
          <a:prstGeom prst="roundRect">
            <a:avLst>
              <a:gd name="adj" fmla="val 29412"/>
            </a:avLst>
          </a:prstGeom>
          <a:solidFill>
            <a:srgbClr val="B07A4F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286750" y="39528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后台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667750" y="39243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A211A"/>
                </a:solidFill>
                <a:latin typeface="Microsoft YaHei"/>
                <a:ea typeface="Microsoft YaHei"/>
              </a:rPr>
              <a:t>内容管理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210550" y="4152900"/>
            <a:ext cx="32289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8A7B6B"/>
                </a:solidFill>
                <a:latin typeface="Microsoft YaHei"/>
                <a:ea typeface="Microsoft YaHei"/>
              </a:rPr>
              <a:t>产品</a:t>
            </a:r>
            <a:r>
              <a:rPr lang="en-US" sz="975">
                <a:solidFill>
                  <a:srgbClr val="8A7B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8A7B6B"/>
                </a:solidFill>
                <a:latin typeface="Microsoft YaHei"/>
                <a:ea typeface="Microsoft YaHei"/>
              </a:rPr>
              <a:t>新闻</a:t>
            </a:r>
            <a:r>
              <a:rPr lang="en-US" sz="975">
                <a:solidFill>
                  <a:srgbClr val="8A7B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8A7B6B"/>
                </a:solidFill>
                <a:latin typeface="Microsoft YaHei"/>
                <a:ea typeface="Microsoft YaHei"/>
              </a:rPr>
              <a:t>案例全流程增删改查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09600" y="4686300"/>
            <a:ext cx="10972800" cy="1504950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</p:spPr>
        <p:txBody>
          <a:bodyPr/>
          <a:p/>
        </p:txBody>
      </p:sp>
      <p:sp>
        <p:nvSpPr>
          <p:cNvPr id="198" name=""/>
          <p:cNvSpPr/>
          <p:nvPr/>
        </p:nvSpPr>
        <p:spPr>
          <a:xfrm rot="0" flipH="0" flipV="0">
            <a:off x="876300" y="487680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B07A4F">
              <a:alpha val="12000"/>
            </a:srgbClr>
          </a:solidFill>
          <a:ln/>
        </p:spPr>
        <p:txBody>
          <a:bodyPr/>
          <a:p/>
        </p:txBody>
      </p:sp>
      <p:pic>
        <p:nvPicPr>
          <p:cNvPr id="1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71550" y="4972050"/>
            <a:ext cx="209550" cy="209550"/>
          </a:xfrm>
          <a:prstGeom prst="rect">
            <a:avLst/>
          </a:prstGeom>
          <a:ln/>
        </p:spPr>
      </p:pic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409700" y="4876800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A211A"/>
                </a:solidFill>
                <a:latin typeface="Microsoft YaHei"/>
                <a:ea typeface="Microsoft YaHei"/>
              </a:rPr>
              <a:t>三端贯通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409700" y="5105400"/>
            <a:ext cx="237172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8A7B6B"/>
                </a:solidFill>
                <a:latin typeface="Microsoft YaHei"/>
                <a:ea typeface="Microsoft YaHei"/>
              </a:rPr>
              <a:t>前台、后台、</a:t>
            </a:r>
            <a:r>
              <a:rPr lang="en-US" sz="938">
                <a:solidFill>
                  <a:srgbClr val="8A7B6B"/>
                </a:solidFill>
                <a:latin typeface="Microsoft YaHei"/>
                <a:ea typeface="Microsoft YaHei"/>
              </a:rPr>
              <a:t xml:space="preserve">API </a:t>
            </a:r>
            <a:r>
              <a:rPr lang="zh-CN" sz="938">
                <a:solidFill>
                  <a:srgbClr val="8A7B6B"/>
                </a:solidFill>
                <a:latin typeface="Microsoft YaHei"/>
                <a:ea typeface="Microsoft YaHei"/>
              </a:rPr>
              <a:t>同源同库，改一处三端同步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4419600" y="487680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B07A4F">
              <a:alpha val="12000"/>
            </a:srgbClr>
          </a:solidFill>
          <a:ln/>
        </p:spPr>
        <p:txBody>
          <a:bodyPr/>
          <a:p/>
        </p:txBody>
      </p:sp>
      <p:pic>
        <p:nvPicPr>
          <p:cNvPr id="2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514850" y="4972050"/>
            <a:ext cx="209550" cy="209550"/>
          </a:xfrm>
          <a:prstGeom prst="rect">
            <a:avLst/>
          </a:prstGeom>
          <a:ln/>
        </p:spPr>
      </p:pic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953000" y="4876800"/>
            <a:ext cx="2324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A211A"/>
                </a:solidFill>
                <a:latin typeface="Microsoft YaHei"/>
                <a:ea typeface="Microsoft YaHei"/>
              </a:rPr>
              <a:t>全站可管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953000" y="5105400"/>
            <a:ext cx="23241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38">
                <a:solidFill>
                  <a:srgbClr val="8A7B6B"/>
                </a:solidFill>
                <a:latin typeface="Microsoft YaHei"/>
                <a:ea typeface="Microsoft YaHei"/>
              </a:rPr>
              <a:t xml:space="preserve">11 </a:t>
            </a:r>
            <a:r>
              <a:rPr lang="zh-CN" sz="938">
                <a:solidFill>
                  <a:srgbClr val="8A7B6B"/>
                </a:solidFill>
                <a:latin typeface="Microsoft YaHei"/>
                <a:ea typeface="Microsoft YaHei"/>
              </a:rPr>
              <a:t>个后台模块覆盖轮播、产品、案例到留言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7962900" y="487680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B07A4F">
              <a:alpha val="12000"/>
            </a:srgbClr>
          </a:solidFill>
          <a:ln/>
        </p:spPr>
        <p:txBody>
          <a:bodyPr/>
          <a:p/>
        </p:txBody>
      </p:sp>
      <p:pic>
        <p:nvPicPr>
          <p:cNvPr id="2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058150" y="4972050"/>
            <a:ext cx="209550" cy="209550"/>
          </a:xfrm>
          <a:prstGeom prst="rect">
            <a:avLst/>
          </a:prstGeom>
          <a:ln/>
        </p:spPr>
      </p:pic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496300" y="4876800"/>
            <a:ext cx="2152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A211A"/>
                </a:solidFill>
                <a:latin typeface="Microsoft YaHei"/>
                <a:ea typeface="Microsoft YaHei"/>
              </a:rPr>
              <a:t>多角色权限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496300" y="5105400"/>
            <a:ext cx="21526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8A7B6B"/>
                </a:solidFill>
                <a:latin typeface="Microsoft YaHei"/>
                <a:ea typeface="Microsoft YaHei"/>
              </a:rPr>
              <a:t>管理员</a:t>
            </a:r>
            <a:r>
              <a:rPr lang="en-US" sz="938">
                <a:solidFill>
                  <a:srgbClr val="8A7B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38">
                <a:solidFill>
                  <a:srgbClr val="8A7B6B"/>
                </a:solidFill>
                <a:latin typeface="Microsoft YaHei"/>
                <a:ea typeface="Microsoft YaHei"/>
              </a:rPr>
              <a:t>编辑</a:t>
            </a:r>
            <a:r>
              <a:rPr lang="en-US" sz="938">
                <a:solidFill>
                  <a:srgbClr val="8A7B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38">
                <a:solidFill>
                  <a:srgbClr val="8A7B6B"/>
                </a:solidFill>
                <a:latin typeface="Microsoft YaHei"/>
                <a:ea typeface="Microsoft YaHei"/>
              </a:rPr>
              <a:t>运营三级角色，双重鉴权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8B79"/>
                </a:solidFill>
                <a:latin typeface="Microsoft YaHei"/>
                <a:ea typeface="Microsoft YaHei"/>
              </a:rPr>
              <a:t>暖禾家具</a:t>
            </a:r>
            <a:r>
              <a:rPr lang="en-US" sz="1050">
                <a:solidFill>
                  <a:srgbClr val="9A8B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A8B79"/>
                </a:solidFill>
                <a:latin typeface="Microsoft YaHei"/>
                <a:ea typeface="Microsoft YaHei"/>
              </a:rPr>
              <a:t>项目成果展示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11252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8B79"/>
                </a:solidFill>
                <a:latin typeface="Microsoft YaHei"/>
                <a:ea typeface="Microsoft YaHei"/>
              </a:rPr>
              <a:t>06 / 08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12" name="" descr="&lt;Slide style={{ width: '1280px', height: '720px', background: '#FBF7F1', padding: '20px 64px' }}&gt;&#13;&#10;  &lt;Box style={{ flexDirection: 'row', alignItems: 'center', gap: 16, height: 100, borderBottom: '2px solid #E4D8C8' }}&gt;&#13;&#10;    &lt;Box style={{ width: 6, height: 48, background: '#B07A4F', borderRadius: 3 }} /&gt;&#13;&#10;    &lt;Box&gt;&#13;&#10;      &lt;Text style={{ fontSize: 34, fontWeight: 'bold', color: '#2A211A' }}&gt;e）项目心得&lt;/Text&gt;&#13;&#10;      &lt;Text style={{ fontSize: 18, color: '#8A7B6B', marginTop: 4 }}&gt;从真实交付链路中沉淀的全栈经验&lt;/Text&gt;&#13;&#10;    &lt;/Box&gt;&#13;&#10;    &lt;Text style={{ marginLeft: 'auto', fontSize: 16, color: '#B0A18F', letterSpacing: 2 }}&gt;REFLECTION&lt;/Text&gt;&#13;&#10;  &lt;/Box&gt;&#13;&#10;&#13;&#10;  &lt;Box style={{ flexDirection: 'row', gap: 40, marginTop: 22, height: 518 }}&gt;&#13;&#10;    &lt;Box style={{ width: '58%', flexDirection: 'column', justifyContent: 'center', gap: 15 }}&gt;&#13;&#10;      {[&#13;&#10;        { t: '前后端契约先行', d: '以统一响应 {code,data,msg} 与 API 清单为契约，前后台并行开发互不阻塞' },&#13;&#10;        { t: '工程化降低门槛', d: 'Swagger 自动文档 + 标准化启动脚本，运营与新人可快速上手' },&#13;&#10;        { t: '问题驱动设计', d: '先定位&quot;展示单一 / 后台低效 / 无统一入口&quot;痛点，再决定功能边界' },&#13;&#10;        { t: '工具赋能效率', d: '用 WordBuddy 完成需求拆解与代码生成，把时间留给架构与打磨' },&#13;&#10;        { t: '持续打磨细节', d: '从 UIUX 令牌到 RBAC 权限，细节决定交付物是否&quot;真正可用&quot;' },&#13;&#10;      ].map((it, i) =&gt; (&#13;&#10;        &lt;Box key={i} style={{ flexDirection: 'row', gap: 14, alignItems: 'flex-start', background: '#FFFFFF', borderRadius: 12, padding: '13px 18px', boxShadow: '0 2px 10px rgba(42,33,26,0.05)' }}&gt;&#13;&#10;          &lt;Box style={{ width: 34, height: 34, borderRadius: 9, background: '#2A211A', justifyContent: 'center', alignItems: 'center', flexShrink: 0, marginTop: 2 }}&gt;&#13;&#10;            &lt;Text style={{ fontSize: 17, fontWeight: 'bold', color: '#FFFFFF' }}&gt;{i + 1}&lt;/Text&gt;&#13;&#10;          &lt;/Box&gt;&#13;&#10;          &lt;Box&gt;&#13;&#10;            &lt;Text style={{ fontSize: 19, fontWeight: 'bold', color: '#2A211A' }}&gt;{it.t}&lt;/Text&gt;&#13;&#10;            &lt;Text style={{ fontSize: 15, color: '#8A7B6B', marginTop: 2, lineHeight: 1.45 }}&gt;{it.d}&lt;/Text&gt;&#13;&#10;          &lt;/Box&gt;&#13;&#10;        &lt;/Box&gt;&#13;&#10;      ))}&#13;&#10;    &lt;/Box&gt;&#13;&#10;&#13;&#10;    &lt;Box style={{ width: '42%', background: 'linear-gradient(160deg, #2A211A, #4A3A2C)', borderRadius: 18, padding: 36, justifyContent: 'center' }}&gt;&#13;&#10;      &lt;FAIcon name='quote-left' style={{ fill: '#C76B3A', width: 44, height: 44 }} /&gt;&#13;&#10;      &lt;Text style={{ fontSize: 26, fontWeight: 'bold', color: '#FFFFFF', lineHeight: 1.5, marginTop: 18 }}&gt;&#13;&#10;        把&quot;能跑通&quot;做成&quot;能用&quot;，才是全栈项目的真正交付。&#13;&#10;      &lt;/Text&gt;&#13;&#10;      &lt;Box style={{ width: 56, height: 5, background: '#C76B3A', borderRadius: 3, marginTop: 22 }} /&gt;&#13;&#10;      &lt;Text style={{ fontSize: 17, color: '#CDBBA8', lineHeight: 1.7, marginTop: 18 }}&gt;&#13;&#10;        从一份 PRD 到三位一体的可运行工程，最大的收获不是会用某个框架，而是学会用工程化思维拆解需求、用契约约束协作、用细节兑现体验。&#13;&#10;      &lt;/Text&gt;&#13;&#10;    &lt;/Box&gt;&#13;&#10;  &lt;/Box&gt;&#13;&#10;&#13;&#10;  &lt;Box style={{ position: 'absolute', bottom: 20, left: 64, right: 64, flexDirection: 'row', justifyContent: 'space-between' }}&gt;&#13;&#10;    &lt;Text style={{ fontSize: 14, color: '#9A8B79' }}&gt;暖禾家具 · 项目成果展示&lt;/Text&gt;&#13;&#10;    &lt;Text style={{ fontSize: 14, color: '#9A8B79' }}&gt;07 / 08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7F1"/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8"/>
                </a:moveTo>
                <a:lnTo>
                  <a:pt x="1152" y="98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E4D8C8"/>
          </a:solidFill>
          <a:ln/>
        </p:spPr>
        <p:txBody>
          <a:bodyPr/>
          <a:p/>
        </p:txBody>
      </p:sp>
      <p:sp>
        <p:nvSpPr>
          <p:cNvPr id="215" name=""/>
          <p:cNvSpPr/>
          <p:nvPr/>
        </p:nvSpPr>
        <p:spPr>
          <a:xfrm rot="0" flipH="0" flipV="0">
            <a:off x="609600" y="428625"/>
            <a:ext cx="57150" cy="457200"/>
          </a:xfrm>
          <a:prstGeom prst="roundRect">
            <a:avLst>
              <a:gd name="adj" fmla="val 50000"/>
            </a:avLst>
          </a:prstGeom>
          <a:solidFill>
            <a:srgbClr val="B07A4F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19150" y="342900"/>
            <a:ext cx="2571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A211A"/>
                </a:solidFill>
                <a:latin typeface="Microsoft YaHei"/>
                <a:ea typeface="Microsoft YaHei"/>
              </a:rPr>
              <a:t>e</a:t>
            </a:r>
            <a:r>
              <a:rPr lang="zh-CN" sz="2550" b="1">
                <a:solidFill>
                  <a:srgbClr val="2A211A"/>
                </a:solidFill>
                <a:latin typeface="Microsoft YaHei"/>
                <a:ea typeface="Microsoft YaHei"/>
              </a:rPr>
              <a:t>）项目心得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19150" y="771525"/>
            <a:ext cx="2571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A7B6B"/>
                </a:solidFill>
                <a:latin typeface="Microsoft YaHei"/>
                <a:ea typeface="Microsoft YaHei"/>
              </a:rPr>
              <a:t>从真实交付链路中沉淀的全栈经验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0477500" y="561975"/>
            <a:ext cx="110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B0A18F"/>
                </a:solidFill>
                <a:latin typeface="Microsoft YaHei"/>
                <a:ea typeface="Microsoft YaHei"/>
              </a:rPr>
              <a:t>REFLECTION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09600" y="1676400"/>
            <a:ext cx="6143625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781050" y="181927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2A211A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95350" y="188595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238250" y="1800225"/>
            <a:ext cx="4781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A211A"/>
                </a:solidFill>
                <a:latin typeface="Microsoft YaHei"/>
                <a:ea typeface="Microsoft YaHei"/>
              </a:rPr>
              <a:t>前后端契约先行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238250" y="2038350"/>
            <a:ext cx="47815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以统一响应</a:t>
            </a:r>
            <a:r>
              <a:rPr lang="en-US" sz="1125">
                <a:solidFill>
                  <a:srgbClr val="8A7B6B"/>
                </a:solidFill>
                <a:latin typeface="Microsoft YaHei"/>
                <a:ea typeface="Microsoft YaHei"/>
              </a:rPr>
              <a:t xml:space="preserve"> {code,data,msg} </a:t>
            </a: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8A7B6B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清单为契约，前后台并行开发互不阻塞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09600" y="2562225"/>
            <a:ext cx="6143625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781050" y="270510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2A211A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95350" y="277177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238250" y="2686050"/>
            <a:ext cx="3971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A211A"/>
                </a:solidFill>
                <a:latin typeface="Microsoft YaHei"/>
                <a:ea typeface="Microsoft YaHei"/>
              </a:rPr>
              <a:t>工程化降低门槛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238250" y="2924175"/>
            <a:ext cx="397192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8A7B6B"/>
                </a:solidFill>
                <a:latin typeface="Microsoft YaHei"/>
                <a:ea typeface="Microsoft YaHei"/>
              </a:rPr>
              <a:t xml:space="preserve">Swagger </a:t>
            </a: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自动文档</a:t>
            </a:r>
            <a:r>
              <a:rPr lang="en-US" sz="1125">
                <a:solidFill>
                  <a:srgbClr val="8A7B6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标准化启动脚本，运营与新人可快速上手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609600" y="3448050"/>
            <a:ext cx="6143625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30" name=""/>
          <p:cNvSpPr/>
          <p:nvPr/>
        </p:nvSpPr>
        <p:spPr>
          <a:xfrm rot="0" flipH="0" flipV="0">
            <a:off x="781050" y="359092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2A211A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95350" y="36576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238250" y="3571875"/>
            <a:ext cx="4133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A211A"/>
                </a:solidFill>
                <a:latin typeface="Microsoft YaHei"/>
                <a:ea typeface="Microsoft YaHei"/>
              </a:rPr>
              <a:t>问题驱动设计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238250" y="3810000"/>
            <a:ext cx="41338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先定位</a:t>
            </a:r>
            <a:r>
              <a:rPr lang="en-US" sz="1125">
                <a:solidFill>
                  <a:srgbClr val="8A7B6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展示单一</a:t>
            </a:r>
            <a:r>
              <a:rPr lang="en-US" sz="1125">
                <a:solidFill>
                  <a:srgbClr val="8A7B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后台低效</a:t>
            </a:r>
            <a:r>
              <a:rPr lang="en-US" sz="1125">
                <a:solidFill>
                  <a:srgbClr val="8A7B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无统一入口</a:t>
            </a:r>
            <a:r>
              <a:rPr lang="en-US" sz="1125">
                <a:solidFill>
                  <a:srgbClr val="8A7B6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痛点，再决定功能边界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609600" y="4333875"/>
            <a:ext cx="6143625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35" name=""/>
          <p:cNvSpPr/>
          <p:nvPr/>
        </p:nvSpPr>
        <p:spPr>
          <a:xfrm rot="0" flipH="0" flipV="0">
            <a:off x="781050" y="447675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2A211A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95350" y="454342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238250" y="4457700"/>
            <a:ext cx="4191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A211A"/>
                </a:solidFill>
                <a:latin typeface="Microsoft YaHei"/>
                <a:ea typeface="Microsoft YaHei"/>
              </a:rPr>
              <a:t>工具赋能效率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238250" y="4695825"/>
            <a:ext cx="41910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用</a:t>
            </a:r>
            <a:r>
              <a:rPr lang="en-US" sz="1125">
                <a:solidFill>
                  <a:srgbClr val="8A7B6B"/>
                </a:solidFill>
                <a:latin typeface="Microsoft YaHei"/>
                <a:ea typeface="Microsoft YaHei"/>
              </a:rPr>
              <a:t xml:space="preserve"> WordBuddy </a:t>
            </a: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完成需求拆解与代码生成，把时间留给架构与打磨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09600" y="5219700"/>
            <a:ext cx="6143625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95250" dist="19050" dir="5400000">
              <a:srgbClr val="2A21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781050" y="536257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2A211A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95350" y="542925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1238250" y="5343525"/>
            <a:ext cx="38766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A211A"/>
                </a:solidFill>
                <a:latin typeface="Microsoft YaHei"/>
                <a:ea typeface="Microsoft YaHei"/>
              </a:rPr>
              <a:t>持续打磨细节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238250" y="5581650"/>
            <a:ext cx="38766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从</a:t>
            </a:r>
            <a:r>
              <a:rPr lang="en-US" sz="1125">
                <a:solidFill>
                  <a:srgbClr val="8A7B6B"/>
                </a:solidFill>
                <a:latin typeface="Microsoft YaHei"/>
                <a:ea typeface="Microsoft YaHei"/>
              </a:rPr>
              <a:t xml:space="preserve"> UIUX </a:t>
            </a: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令牌到</a:t>
            </a:r>
            <a:r>
              <a:rPr lang="en-US" sz="1125">
                <a:solidFill>
                  <a:srgbClr val="8A7B6B"/>
                </a:solidFill>
                <a:latin typeface="Microsoft YaHei"/>
                <a:ea typeface="Microsoft YaHei"/>
              </a:rPr>
              <a:t xml:space="preserve"> RBAC </a:t>
            </a: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权限，细节决定交付物是否</a:t>
            </a:r>
            <a:r>
              <a:rPr lang="en-US" sz="1125">
                <a:solidFill>
                  <a:srgbClr val="8A7B6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8A7B6B"/>
                </a:solidFill>
                <a:latin typeface="Microsoft YaHei"/>
                <a:ea typeface="Microsoft YaHei"/>
              </a:rPr>
              <a:t>真正可用</a:t>
            </a:r>
            <a:r>
              <a:rPr lang="en-US" sz="1125">
                <a:solidFill>
                  <a:srgbClr val="8A7B6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7134225" y="1352550"/>
            <a:ext cx="4448175" cy="4933950"/>
          </a:xfrm>
          <a:prstGeom prst="roundRect">
            <a:avLst>
              <a:gd name="adj" fmla="val 3854"/>
            </a:avLst>
          </a:prstGeom>
          <a:gradFill>
            <a:gsLst>
              <a:gs pos="0">
                <a:srgbClr val="2A211A"/>
              </a:gs>
              <a:gs pos="100000">
                <a:srgbClr val="4A3A2C"/>
              </a:gs>
            </a:gsLst>
            <a:lin ang="4200000" scaled="1"/>
          </a:gradFill>
          <a:ln/>
        </p:spPr>
        <p:txBody>
          <a:bodyPr/>
          <a:p/>
        </p:txBody>
      </p:sp>
      <p:pic>
        <p:nvPicPr>
          <p:cNvPr id="2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477125" y="2362200"/>
            <a:ext cx="419100" cy="419100"/>
          </a:xfrm>
          <a:prstGeom prst="rect">
            <a:avLst/>
          </a:prstGeom>
          <a:ln/>
        </p:spPr>
      </p:pic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477125" y="2952750"/>
            <a:ext cx="3762375" cy="895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把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能跑通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做成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能用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，才是全栈项目的真正交付。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7477125" y="4057650"/>
            <a:ext cx="533400" cy="47625"/>
          </a:xfrm>
          <a:prstGeom prst="roundRect">
            <a:avLst>
              <a:gd name="adj" fmla="val 60000"/>
            </a:avLst>
          </a:prstGeom>
          <a:solidFill>
            <a:srgbClr val="C76B3A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477125" y="4276725"/>
            <a:ext cx="3762375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CDBBA8"/>
                </a:solidFill>
                <a:latin typeface="Microsoft YaHei"/>
                <a:ea typeface="Microsoft YaHei"/>
              </a:rPr>
              <a:t>从一份</a:t>
            </a:r>
            <a:r>
              <a:rPr lang="en-US" sz="1275">
                <a:solidFill>
                  <a:srgbClr val="CDBBA8"/>
                </a:solidFill>
                <a:latin typeface="Microsoft YaHei"/>
                <a:ea typeface="Microsoft YaHei"/>
              </a:rPr>
              <a:t xml:space="preserve"> PRD </a:t>
            </a:r>
            <a:r>
              <a:rPr lang="zh-CN" sz="1275">
                <a:solidFill>
                  <a:srgbClr val="CDBBA8"/>
                </a:solidFill>
                <a:latin typeface="Microsoft YaHei"/>
                <a:ea typeface="Microsoft YaHei"/>
              </a:rPr>
              <a:t>到三位一体的可运行工程，最大的收获不是会用某个框架，而是学会用工程化思维拆解需求、用契约约束协作、用细节兑现体验。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8B79"/>
                </a:solidFill>
                <a:latin typeface="Microsoft YaHei"/>
                <a:ea typeface="Microsoft YaHei"/>
              </a:rPr>
              <a:t>暖禾家具</a:t>
            </a:r>
            <a:r>
              <a:rPr lang="en-US" sz="1050">
                <a:solidFill>
                  <a:srgbClr val="9A8B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A8B79"/>
                </a:solidFill>
                <a:latin typeface="Microsoft YaHei"/>
                <a:ea typeface="Microsoft YaHei"/>
              </a:rPr>
              <a:t>项目成果展示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11252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8B79"/>
                </a:solidFill>
                <a:latin typeface="Microsoft YaHei"/>
                <a:ea typeface="Microsoft YaHei"/>
              </a:rPr>
              <a:t>07 / 08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51" name="" descr="&lt;Slide style={{ width: '1280px', height: '720px', background: 'linear-gradient(135deg, #2A211A 0%, #4A3A2C 55%, #B07A4F 100%)', padding: 0 }}&gt;&#13;&#10;  &lt;Box style={{ position: 'absolute', top: 0, left: 0, width: 12, height: '720px', background: '#C76B3A' }} /&gt;&#13;&#10;  &lt;Box style={{ flexDirection: 'column', justifyContent: 'center', height: '100%', paddingLeft: 110, paddingRight: 120, gap: 26 }}&gt;&#13;&#10;    &lt;Text style={{ fontSize: 18, color: '#E7D9C9', letterSpacing: 6, fontWeight: 'bold' }}&gt;FROM REQUIREMENT TO DELIVERY&lt;/Text&gt;&#13;&#10;    &lt;Text style={{ fontSize: 72, fontWeight: 'bold', color: '#FFFFFF', lineHeight: 1.1 }}&gt;从需求到交付&lt;/Text&gt;&#13;&#10;    &lt;Box style={{ width: 120, height: 6, background: '#C76B3A', borderRadius: 3 }} /&gt;&#13;&#10;    &lt;Text style={{ fontSize: 28, color: '#F3E9DC', fontWeight: '600', lineHeight: 1.5 }}&gt;&#13;&#10;      一份需求文档，一个三位一体的全栈工程，一次完整的项目复盘。&#13;&#10;    &lt;/Text&gt;&#13;&#10;    &lt;Text style={{ fontSize: 20, color: '#CDBBA8', lineHeight: 1.6, marginTop: 4 }}&gt;&#13;&#10;      感谢观看 · 欢迎就架构设计、功能实现与部署方案提问交流&#13;&#10;    &lt;/Text&gt;&#13;&#10;  &lt;/Box&gt;&#13;&#10;  &lt;Box style={{ position: 'absolute', bottom: 36, left: 110, right: 120, flexDirection: 'row', justifyContent: 'space-between', alignItems: 'center' }}&gt;&#13;&#10;    &lt;Text style={{ fontSize: 16, color: '#C9B6A2' }}&gt;暖禾家具项目组&lt;/Text&gt;&#13;&#10;    &lt;Text style={{ fontSize: 16, color: '#C9B6A2' }}&gt;暖禾家具 · 项目成果展示 · 2026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11A"/>
              </a:gs>
              <a:gs pos="55000">
                <a:srgbClr val="4A3A2C"/>
              </a:gs>
              <a:gs pos="100000">
                <a:srgbClr val="B07A4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047750" y="1895475"/>
            <a:ext cx="10001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450">
                <a:solidFill>
                  <a:srgbClr val="E7D9C9"/>
                </a:solidFill>
                <a:latin typeface="Microsoft YaHei"/>
                <a:ea typeface="Microsoft YaHei"/>
              </a:rPr>
              <a:t>FROM REQUIREMENT TO DELIVERY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1047750" y="2352675"/>
            <a:ext cx="10001250" cy="9144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400" b="1">
                <a:solidFill>
                  <a:srgbClr val="FFFFFF"/>
                </a:solidFill>
                <a:latin typeface="Microsoft YaHei"/>
                <a:ea typeface="Microsoft YaHei"/>
              </a:rPr>
              <a:t>从需求到交付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1047750" y="3514725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C76B3A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047750" y="3819525"/>
            <a:ext cx="10001250" cy="4857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2100" b="1">
                <a:solidFill>
                  <a:srgbClr val="F3E9DC"/>
                </a:solidFill>
                <a:latin typeface="Microsoft YaHei"/>
                <a:ea typeface="Microsoft YaHei"/>
              </a:rPr>
              <a:t>一份需求文档，一个三位一体的全栈工程，一次完整的项目复盘。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047750" y="4591050"/>
            <a:ext cx="1000125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CDBBA8"/>
                </a:solidFill>
                <a:latin typeface="Microsoft YaHei"/>
                <a:ea typeface="Microsoft YaHei"/>
              </a:rPr>
              <a:t>感谢观看</a:t>
            </a:r>
            <a:r>
              <a:rPr lang="en-US" sz="1500">
                <a:solidFill>
                  <a:srgbClr val="CDBB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CDBBA8"/>
                </a:solidFill>
                <a:latin typeface="Microsoft YaHei"/>
                <a:ea typeface="Microsoft YaHei"/>
              </a:rPr>
              <a:t>欢迎就架构设计、功能实现与部署方案提问交流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0" y="0"/>
            <a:ext cx="114300" cy="6858000"/>
          </a:xfrm>
          <a:prstGeom prst="rect">
            <a:avLst/>
          </a:prstGeom>
          <a:solidFill>
            <a:srgbClr val="C76B3A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047750" y="632460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B6A2"/>
                </a:solidFill>
                <a:latin typeface="Microsoft YaHei"/>
                <a:ea typeface="Microsoft YaHei"/>
              </a:rPr>
              <a:t>暖禾家具项目组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905875" y="6324600"/>
            <a:ext cx="2143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B6A2"/>
                </a:solidFill>
                <a:latin typeface="Microsoft YaHei"/>
                <a:ea typeface="Microsoft YaHei"/>
              </a:rPr>
              <a:t>暖禾家具</a:t>
            </a:r>
            <a:r>
              <a:rPr lang="en-US" sz="1200">
                <a:solidFill>
                  <a:srgbClr val="C9B6A2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C9B6A2"/>
                </a:solidFill>
                <a:latin typeface="Microsoft YaHei"/>
                <a:ea typeface="Microsoft YaHei"/>
              </a:rPr>
              <a:t>项目成果展示</a:t>
            </a:r>
            <a:r>
              <a:rPr lang="en-US" sz="1200">
                <a:solidFill>
                  <a:srgbClr val="C9B6A2"/>
                </a:solidFill>
                <a:latin typeface="Microsoft YaHei"/>
                <a:ea typeface="Microsoft YaHei"/>
              </a:rPr>
              <a:t xml:space="preserve"> · 2026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2026-10-13T09:22:17Z</dcterms:created>
  <dcterms:modified xsi:type="dcterms:W3CDTF">2026-10-13T09:22:17Z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{"AIGC":{"Label":"1","ContentProducer":"00119111010856365494821B355","ProduceID":"5f509e387112492caa390d2ec6a0a229","ReservedCode1":"","ContentPropagator":"00119111010856365494821B355","PropagateID":"5f509e387112492caa390d2ec6a0a229","ReservedCode2":""}}</vt:lpwstr>
  </property>
</Properties>
</file>